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6" r:id="rId13"/>
    <p:sldId id="267" r:id="rId14"/>
    <p:sldId id="268" r:id="rId15"/>
    <p:sldId id="282" r:id="rId16"/>
    <p:sldId id="269" r:id="rId17"/>
    <p:sldId id="270" r:id="rId18"/>
    <p:sldId id="271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5143500" type="screen16x9"/>
  <p:notesSz cx="6858000" cy="9144000"/>
  <p:embeddedFontLst>
    <p:embeddedFont>
      <p:font typeface="Google Sans" panose="020B0604020202020204" charset="0"/>
      <p:regular r:id="rId30"/>
      <p:bold r:id="rId31"/>
      <p:italic r:id="rId32"/>
      <p:boldItalic r:id="rId33"/>
    </p:embeddedFont>
    <p:embeddedFont>
      <p:font typeface="Google Sans Medium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fb4e222cb9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" name="Google Shape;19;g3fb4e222cb9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⏱ 0:00–0:10 · 1 из 12 · задаёт тезис (критерий питча «качество выступления»)</a:t>
            </a:r>
          </a:p>
          <a:p>
            <a:r>
              <a:t>ГОВОРИМ: «Добрый день. Мы команда RailBreak, кейс „Резервная одометрия по модели“. Наш резерв считает скорость и положение трамвая только по двум тележкам и ручке контроллера, без IMU, GNSS только три секунды на старте для выставки на карту, и сам говорит, когда ему уже нельзя верить. Всё, что покажем, воспроизводится одной командой из репозитория».</a:t>
            </a:r>
          </a:p>
          <a:p>
            <a:r>
              <a:t>НЕ ГОВОРИМ: «замена лидара», «ИИ-навигация».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0:10–0:40 · зачем это городу (критерий «глубина погружения»)</a:t>
            </a:r>
          </a:p>
          <a:p>
            <a:r>
              <a:t>ГОВОРИМ: «Москва первой в мире возит пассажиров на трамвае уровня GoA3, и парк растёт: пять вагонов сейчас, пятнадцать к концу года, а к 2035-му 90 % трамваев с инновационными решениями. GNSS в центре Москвы глушится, а основной стек, лидары и камеры, отказывает коррелированно: снег, грязь. ЭПР по постановлению №1006 требует безопасной остановки при сбое, а для неё нужны скорость и путь. Поэтому нужен дешёвый независимый канал на сигналах, которые в вагоне уже есть».</a:t>
            </a:r>
          </a:p>
          <a:p>
            <a:r>
              <a:t>ТОЧНОСТЬ ФОРМУЛИРОВОК: 90 % — это трамваи к 2035 (Ликсутов, 03.12.2025; Бокша: 90 % трамваев и 60 % поездов метро), не «весь транспорт». Отказ GNSS именно на трамвае публично не зафиксирован: говорим «риск», не «инцидент».</a:t>
            </a:r>
          </a:p>
          <a:p>
            <a:r>
              <a:t>ИСТОЧНИКИ: Railway Gazette 13.06.2026; РБК 04.05.2023; Spire 14.08.2025; Росавиация 22.01.2025; ПП №1006 от 25.07.2024 (до 26.07.2027).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0:40–1:05 · почему нельзя просто интегрировать колёса</a:t>
            </a:r>
          </a:p>
          <a:p>
            <a:r>
              <a:t>ГОВОРИМ: «Колёса врут, и железная дорога знает это давно. В Марслеве при юзе регистратор насчитал 1 400 метров вместо 2 000, поезд проехал запрещающий сигнал на 651 метр. ETCS лечит это радаром и балисами, у трамвая их нет. Отсюда главный физический вывод: две одинаковые тележки при общем юзе не независимые свидетели. Если обе согласны и обе расходятся с моделью, по двум скоростям не понять, кто врёт».</a:t>
            </a:r>
          </a:p>
          <a:p>
            <a:r>
              <a:t>ЕСЛИ СПРОСЯТ «почему по одной тележке не видно боксования?»: ускорение колеса при проскальзывании в тех же пределах, что при разгоне (Palmer &amp; Nourani-Vatani, IROS 2018). Свидетели: вторая тележка и модель тяги.</a:t>
            </a:r>
          </a:p>
          <a:p>
            <a:r>
              <a:t>SUBSET-041 — линейка для сравнения, не заявка на соответствие.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1:05–1:40 · математическая модель (поле формы №3: уравнения, входы/выходы, переход от момента к скорости)</a:t>
            </a:r>
          </a:p>
          <a:p>
            <a:r>
              <a:t>ГОВОРИМ: «Рельс сводит задачу к одной координате, пути s. Фильтр оценивает четыре величины: путь, скорость, масштаб колёс и смещение модели. Ускорение берём из таблицы тяги по ручке и скорости минус уклон с карты. Тележки сверяются друг с другом и с моделью: несогласная теряет вес. Стоянка у станции работает как виртуальная бализа и привязывает путь. GNSS читаем только три секунды на старте, потом подписка снимается».</a:t>
            </a:r>
          </a:p>
          <a:p>
            <a:r>
              <a:t>ГЛУБИНА (если есть вопрос): момент на валу M ≈ r_w/(i_g·η)·m·(a_tab + r(v)/m). По данным наблюдаемо только M/m, поэтому массу и момент без паспорта не разделяем и честно этого не делаем.</a:t>
            </a:r>
          </a:p>
          <a:p>
            <a:r>
              <a:t>АБЛЯЦИИ (val, 21 рейс): полный фильтр 1.47 м, без уклона 1.87, без ручки 3.04, без таблицы тяги 3.26, без якорей 12.59 м. Слайд П2.</a:t>
            </a:r>
          </a:p>
          <a:p>
            <a:r>
              <a:t>ОСТОРОЖНО: это не UKF и не полный Schmidt–Kalman. Говорим: «k на колёсном шаге заморожен (Kₖ = 0), его двигают только станции». P — инженерная оценка, не строгая ковариация.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1:40–2:00 · ROS 2 пакет и проверка (поля формы №1 и №2)</a:t>
            </a:r>
          </a:p>
          <a:p>
            <a:r>
              <a:t>ГОВОРИМ: «Снаружи стандартный ROS 2 Humble: подписка на три входных топика, на выходе /result/velocity, /result/position в nav_msgs/Odometry и диагностика. Внутри ядро на C++17, которое собирается и тестируется без ROS. Жюри запускает всё одной командой jury.sh в Docker, сеть хоста не нужна. Если в пакете сообщений нет ручки, нода не падает, а едет по тележкам».</a:t>
            </a:r>
          </a:p>
          <a:p>
            <a:r>
              <a:t>ЦИФРЫ ПОД РУКОЙ (rate 1): checker (5cd35fa, полный пакет) 2.15 м / 0.051 м/с, 29.3 Гц; повтор на 1178c67 2.11 м; без ручки (e863195, экстраполяция 20 Гц) 5.45 м / 0.044 м/с / 19.4 Гц; задержка вход→выход медиана 53 мс / p95 154 / max 305 мс, RSS 24.1 МБ, 0.89 % ядра.</a:t>
            </a:r>
          </a:p>
          <a:p>
            <a:r>
              <a:t>ЕСЛИ СПРОСЯТ: выход несёт штамп входа, /clock и таймер не нужны. Вход best effort (очередь 500), выход reliable (10). Без ручки (контейнер организатора, e863195, экстраполяция 20 Гц): 5.45 м, 0.044 м/с, 19.4 Гц; до экстраполяции было 5.2 м и 9.3 Гц. Разрыв 0.196 с без ручки не на старте, а на ~511 с (8-я минута). Без карты: относительный путь, y = z = 0, нода жива.</a:t>
            </a:r>
          </a:p>
          <a:p>
            <a:r>
              <a:t>Код ноды последний раз менялся в e863195 (экстраполяция только без типа ручки); дальше только CI и документы. Форма ссылается на main, т.е. жюри видит HEAD.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2:00–2:35 · проскальзывание и целостность (критерий ТЗ «устойчивость», 20 баллов)</a:t>
            </a:r>
          </a:p>
          <a:p>
            <a:r>
              <a:t>ГОВОРИМ: «Главное отличие: лучше „не знаю“, чем уверенная ошибка. Врёт одна тележка — она теряет вес, модель держит непрерывность, канал возвращается сам. Обе согласны и обе расходятся с моделью дольше трёх секунд — это общая мода: колёса в состояние не берём, неопределённость растёт, ждём станцию. Без станции за пять секунд или сто метров — LOST: положение продолжает выходить, но с σ в один километр и флагом „не использовать“. Для автоматики это сигнал планировать безопасную остановку».</a:t>
            </a:r>
          </a:p>
          <a:p>
            <a:r>
              <a:t>ЕСЛИ СПРОСЯТ «а восстановление после аномалии?»: скорость и доверие к одной тележке восстанавливаются сами. Положение после общего юза возвращает только станция: согласие двух колёс не третий датчик.</a:t>
            </a:r>
          </a:p>
          <a:p>
            <a:r>
              <a:t>μ не оцениваем: по двум скоростям и ручке сцепление ненаблюдаемо, mu_estimate = null, публикуем прокси невязки.</a:t>
            </a:r>
          </a:p>
          <a:p>
            <a:r>
              <a:t>σ: медиана по рейсам внутри 1/2/3σ 0.75/0.94/0.996. Граница эмпирическая, SIL не заявляем. Слепой бюджет 5 с / 100 м пока инженерный выбор.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2:35–3:20 · демо (критерий питча «качество демонстрации»). Показываем ЗАПИСАННОЕ видео, живой прогон только бонусом.</a:t>
            </a:r>
          </a:p>
          <a:p>
            <a:r>
              <a:t>АКТ 1: «Первые три секунды GNSS открыт, дальше „GNSS unsubscribed“, gnss=closed. Положение в MGRS и скорость идут дальше: ни один пакет GNSS после окна на состояние не влияет».</a:t>
            </a:r>
          </a:p>
          <a:p>
            <a:r>
              <a:t>АКТ 2: «Передняя тележка молчит двадцать секунд. Мы не переключаемся жёстко: недостоверный канал теряет вес, модель держит непрерывность. Ошибка вдоль пути 1.60 метра против 1.47 без сбоя».</a:t>
            </a:r>
          </a:p>
          <a:p>
            <a:r>
              <a:t>АКТ 3: «Обе тележки занижают скорость на 20 % восемь секунд — общий юз. Через три секунды режим общей моды, флаг в 95 % прогонов. Мы показываем ненаблюдаемость, а не прячем её: без станции нода объявит LOST».</a:t>
            </a:r>
          </a:p>
          <a:p>
            <a:r>
              <a:t>НЕ ПОКАЗЫВАТЬ: «задняя +5 % весь рейс» (84 м, флаг 19 %) — это П1, только по вопросу.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3:20–3:55 · результаты по критериям ТЗ 30/35/20/15 (поле формы №5)</a:t>
            </a:r>
          </a:p>
          <a:p>
            <a:r>
              <a:t>ГОВОРИМ: «Теперь числа по критериям ТЗ. Официальный checker организатора, запись 88aea4d9, rate 1: скорость 0.051 метра в секунду, положение 2.15 метра в 3D, максимум 5.65 (одиночный повтор 2.11). Частота 29 герц, медиана задержки 53 миллисекунды, 24 мегабайта памяти и меньше процента ядра. Правую колонку называем сами: это одна запись, а хвост задержки, p95 154 и максимум 305 миллисекунд, выше порога; дольше 250 мс — 0.09 % выходов».</a:t>
            </a:r>
          </a:p>
          <a:p>
            <a:r>
              <a:t>ЕСЛИ СПРОСЯТ про 6.17 м: это деревья с регрессией (шаг масштаба тележки к предсказанию и двойная правка k на якоре). Разобрали по абляциям и откатили в 5cd35fa (2.15 м). Одиночный повтор ноды 1178c67, фильтр тот же: 2.11 м, 0.0505 м/с, 12 якорей.</a:t>
            </a:r>
          </a:p>
          <a:p>
            <a:r>
              <a:t>ЕСЛИ СПРОСЯТ «почему задержка и RSS с 5cd35fa?»: в 1178c67 фильтр, параметры и карта не менялись, изменены только работа без ручки и выдача положения в LOST.</a:t>
            </a:r>
          </a:p>
          <a:p>
            <a:r>
              <a:t>РИСК, ЕСЛИ СПРОСЯТ: при прогоне рядом со вторым контейнером один раз штамп положения пошёл назад, в одиночном прогоне не повторился; n_behind_out = 11 из ~50 тыс. входов.</a:t>
            </a:r>
          </a:p>
          <a:p>
            <a:r>
              <a:t>ЕСЛИ СПРОСЯТ «почему 2.11, а не 1.47?»: разные метрики и эталоны. 1.47 м — офлайн-медиана вдоль пути на val (21 рейс), дрейф в конце 0.024 %.</a:t>
            </a:r>
          </a:p>
          <a:p>
            <a:r>
              <a:t>Хвост задержки — ожидание потока ручки в очереди по штампам; без ручки медиана 0.2 мс.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3:55–4:10 · новизна (критерий «глубина погружения»)</a:t>
            </a:r>
          </a:p>
          <a:p>
            <a:r>
              <a:t>ГОВОРИМ: «Мы не соревнуемся с лидаром МТТЕХ, а страхуем его. Постановка вдоль пути известна: von Einem, Heirich. Новое у нас — сочетание: ноль новых датчиков, без IMU, и явная машина целостности, которая называет ненаблюдаемое ненаблюдаемым».</a:t>
            </a:r>
          </a:p>
          <a:p>
            <a:r>
              <a:t>ЕСЛИ СПРОСЯТ «почему хуже von Einem (4.78 м)?»: у них VIO и GNSS, у нас только тележки и ручка. Cognitive Navigation — ближайший российский аналог, но с IMU.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4:10–4:30 · ограничения и план (поле формы №6; критерий Положения «потенциал пилотирования»)</a:t>
            </a:r>
          </a:p>
          <a:p>
            <a:r>
              <a:t>ГОВОРИМ: «Дальше путь к пилоту. Две недели — закрыть долги: checker на всех записях, хвост задержки, pathgraph вместо своего кольца. Затем теневой режим на вагоне маршрута №10 рядом с эталоном МТТЕХ, граф стрелок и новые маршруты, обоснование безопасности по EN 50126. От МТТЕХ просим записи, шину вагона и эталон локализации. Критерии GO фиксируем до прогона».</a:t>
            </a:r>
          </a:p>
          <a:p>
            <a:r>
              <a:t>ОГРАНИЧЕНИЯ ВСЛУХ, ЕСЛИ СПРОСЯТ: одно кольцо без стрелок, депо и заднего хода; другой вагон и сезон требуют заново снять таблицу и k; постоянный масштаб одной тележки видит только станция.</a:t>
            </a:r>
          </a:p>
          <a:p>
            <a:r>
              <a:t>Экономику в рублях не заявляем: цена автономного комплекта не раскрыта. Железа ноль, стоимость в интеграции и валидации.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4:30–4:40 · команда (критерий Положения «состав и компетенции»)</a:t>
            </a:r>
          </a:p>
          <a:p>
            <a:r>
              <a:t>ГОВОРИМ: «Нас трое, ответственность разделена: Дмитрий — модель, фильтр, целостность; Елена — методика замера, скорер, матрица сбоев; Николай — ROS 2 нода, задержка, живое демо. [СВЕРИТЬ состав с регистрацией до 30.09] Числа принимает не автор модели. Граница „до хакатона / на хакатоне“ раскрыта в README».</a:t>
            </a:r>
          </a:p>
          <a:p>
            <a:r>
              <a:t>ЕСЛИ СПРОСЯТ про 3–5 человек по п. 5.5 Положения: назвать всех зарегистрированных участников и их роли.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4:40–4:50 · финал, 10 с запаса</a:t>
            </a:r>
          </a:p>
          <a:p>
            <a:r>
              <a:t>ГОВОРИМ: «RailBreak: резерв, который знает, когда он не знает. Спасибо, готовы к вопросам».</a:t>
            </a:r>
          </a:p>
          <a:p>
            <a:r>
              <a:t>Q&amp;A: отвечаем формулой «да, это ограничение → вот как оно видно в диагностике → вот как снимаем». Не мерили — так и говорим, и называем план замера. Дальше слайды приложения, открываем только по вопросу.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Приложение для Q&amp;A. Не показывать в основном потоке.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Если спросят про худший случай: 84 м при +5 % на задней весь рейс. Это не юз на секунды, а систематический масштаб: тележки расходятся, но какая врёт, видно только по станции. Общий юз −20 % на 8 с: медиана 6.46 м, но p95 868 м, если к следующей стоянке ворота накрыли две станции. В этом случае через 5 с / 100 м нода объявляет LOST, положение выходит с σ = 1 км и integrity_use_position=false. Шум ×5: порог стоянки ограничен 0.5 м/с, стоянка не распознаётся, якорей нет. План: детектор медленного расхождения тележек.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Открывать на вопрос «где абляции?» или «вы уверены, что модель тяги что-то даёт?». Без таблицы тяги 3.26 м против 1.47 м: модель по ручке реально несёт скорость в пропусках. Строка «без ручки» = режим ноды в контейнере организатора без DriverControllerCommand. Калибровка σ: среднее по рейсам 0.63/0.88/0.95 тянет вниз вагон 30639 (рейс 30639_0be558e2: внутри 3σ только 0.49, масштаб колеса на 1.2 % выше карты). Эмпирический множитель c₀.₉₅ = 2.94.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Red Team по коду и литературе (Otegui 2017, Heirich 2016, Milner ION 2024, Malvezzi 2013). Отвечать формулой: «да, это ограничение; вот что его выдаёт в диагностике; вот как снимаем».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Полный список из 30 вопросов с ответами в отчёте Red Team.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Римиханова и Кудашова. Публичный GitHub Actions не выдаём за приёмку: он собирает ноду против заглушек сообщений. Приёмка: scripts/jury.sh acceptance, код 0 на 30618_e9a34502. Замер (5cd35fa, rate 1): RSS 24.1 МБ, CPU 0.89 % одного ядра, пик 3 % (ТЗ: 2 ядра и 0.5 ГБ). colcon test в образе Humble: 2 из 2.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Полные ссылки с URL в отчёте Red Team.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Карточки для Q&amp;A. Отвечать формулой: «да, это ограничение; вот как оно видно в диагностике; вот как снимаем». Почему одна координата s, а не 2D/3D? | Откуда таблица тяги? | Почему не нейросеть? | Масса вагона меняется. Как учитываете? | Зачем уклон в модели? | А задержка тягового привода? | Что такое k = 1,0027? | Износ бандажа, сезон, обточка?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Карточки для Q&amp;A. Отвечать формулой: «да, это ограничение; вот как оно видно в диагностике; вот как снимаем». Это EKF? Где полный якобиан? | Почему k не учится по колёсам? | Это Schmidt–Kalman? | Как устроен консенсус тележек? | Что такое якорь станции? | А если якорь ложный? | Почему ворота 3σ? | Ложная стоянка (ZUPT) на ходу?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Карточки для Q&amp;A. Отвечать формулой: «да, это ограничение; вот как оно видно в диагностике; вот как снимаем». Юз или отказ датчика: как отличаете? | Почему по одной тележке не видно боксования? | Что при общем юзе обеих тележек? | Почему не оцениваете μ? | Откуда слепой бюджет 5 с / 100 м? | Это protection level? | Ваш худший сценарий? | Что LOST значит для автоматики?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Карточки для Q&amp;A. Отвечать формулой: «да, это ограничение; вот как оно видно в диагностике; вот как снимаем». Какое число точности настоящее? | Почему было 6,17 м, а теперь 2,15 м? | Как избегали утечки данных? | Baseline на тех же датчиках? | Где абляции? | Откалибрована ли σ? | Сравнение с ETCS корректно? | А второй вагон 30639?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Карточки для Q&amp;A. Отвечать формулой: «да, это ограничение; вот как оно видно в диагностике; вот как снимаем». Как проверить у себя? | Какая частота выхода? | Какая задержка? | Память и CPU? | QoS и время? | Что если топика ручки нет? | CI собирает против заглушек? | Почему верить вашим числам?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Карточки для Q&amp;A. Отвечать формулой: «да, это ограничение; вот как оно видно в диагностике; вот как снимаем». Зачем резерв, если есть лидар? | Польза в штатном режиме? | Что увидит диспетчер? | Нагрузка на весь парк? | Стрелки, депо, задний ход? | Почему не pathgraph организатора? | Как выйти на новый маршрут? | Метро, ВСМ?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Карточки для Q&amp;A. Отвечать формулой: «да, это ограничение; вот как оно видно в диагностике; вот как снимаем». Сколько это стоит? | Пилот за 90 дней: что именно? | Какие критерии GO? | Что нужно от МТТЕХ? | Сертификация? | Кто принимает решение об остановке? | Почему вы, а не вендор? | Как усилить без новой инфраструктуры?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Карточки для Q&amp;A. Отвечать формулой: «да, это ограничение; вот как оно видно в диагностике; вот как снимаем». Почему GNSS только 3 с? | Заготовки до хакатона? | Что нового относительно SOTA? | Почему хуже von Einem (4,78 м)? | Урок из реальных аварий? | А противоюз «Львёнка»? | Кто что делал в команде? | Что после хакатона?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9804" y="4501576"/>
            <a:ext cx="1920496" cy="2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" title="190х3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69804" y="4501576"/>
            <a:ext cx="1920496" cy="2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">
  <p:cSld name="CUSTOM_2">
    <p:bg>
      <p:bgPr>
        <a:solidFill>
          <a:srgbClr val="3F6FD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" title="190х3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69804" y="4501576"/>
            <a:ext cx="1920496" cy="2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">
  <p:cSld name="CUSTOM_2_1">
    <p:bg>
      <p:bgPr>
        <a:solidFill>
          <a:srgbClr val="3F6FD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6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9804" y="4501576"/>
            <a:ext cx="1920496" cy="2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3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1A123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9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150" y="453400"/>
            <a:ext cx="2452075" cy="3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9"/>
          <p:cNvSpPr txBox="1"/>
          <p:nvPr/>
        </p:nvSpPr>
        <p:spPr>
          <a:xfrm>
            <a:off x="872699" y="3631125"/>
            <a:ext cx="5077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RailBreak</a:t>
            </a:r>
            <a:endParaRPr sz="420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23" name="Google Shape;23;p9" title="Снимок экрана 2026-09-26 в 14.15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718" y="1066610"/>
            <a:ext cx="7796072" cy="250345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extBox 23"/>
          <p:cNvSpPr txBox="1"/>
          <p:nvPr/>
        </p:nvSpPr>
        <p:spPr>
          <a:xfrm>
            <a:off x="868680" y="4434840"/>
            <a:ext cx="603504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Кейс «Резервная одометрия по модели» · беспилотный трамвай, маршрут №10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B9B4D6"/>
                </a:solidFill>
                <a:latin typeface="Google Sans"/>
              </a:rPr>
              <a:t>Скорость и положение без IMU и лидара, GNSS только 3 с на старте: две тележки + ручка контроллера + карта пути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5CE9E3-80C1-564E-22D2-0E6E69C39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6122" y="366710"/>
            <a:ext cx="954377" cy="535021"/>
          </a:xfrm>
          <a:prstGeom prst="rect">
            <a:avLst/>
          </a:prstGeom>
        </p:spPr>
      </p:pic>
      <p:pic>
        <p:nvPicPr>
          <p:cNvPr id="7" name="Picture 8" descr="qr.png">
            <a:extLst>
              <a:ext uri="{FF2B5EF4-FFF2-40B4-BE49-F238E27FC236}">
                <a16:creationId xmlns:a16="http://schemas.microsoft.com/office/drawing/2014/main" id="{0BB293CF-973C-C862-B87C-B0ABB0556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2661" y="3784485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Контекст: Москва ставит на беспилотный трамвай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Первая в мире пассажирская эксплуатация трамвая GoA3 (Railway Gazette, 06.2026). Дальше масштаб: любой источник координат, который может молча соврать, становится риском.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417320"/>
            <a:ext cx="3246120" cy="86868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417320"/>
            <a:ext cx="54864" cy="868680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72184"/>
            <a:ext cx="301752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Google Sans Medium"/>
              </a:rPr>
              <a:t>5 →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301752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30" b="0">
                <a:solidFill>
                  <a:srgbClr val="9FC5E8"/>
                </a:solidFill>
                <a:latin typeface="Google Sans"/>
              </a:rPr>
              <a:t>беспилотных вагонов: сейчас (21.09.2026) и к концу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404872"/>
            <a:ext cx="3246120" cy="86868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2404872"/>
            <a:ext cx="54864" cy="868680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459736"/>
            <a:ext cx="301752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Google Sans Medium"/>
              </a:rPr>
              <a:t>90 %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62072"/>
            <a:ext cx="301752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30" b="0">
                <a:solidFill>
                  <a:srgbClr val="9FC5E8"/>
                </a:solidFill>
                <a:latin typeface="Google Sans"/>
              </a:rPr>
              <a:t>трамваев с «инновационными решениями» к 2035 (Ликсутов, 03.12.2025); метро: 60 % поездов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392424"/>
            <a:ext cx="3246120" cy="86868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3392424"/>
            <a:ext cx="54864" cy="868680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447288"/>
            <a:ext cx="301752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Google Sans Medium"/>
              </a:rPr>
              <a:t>56 тыс. км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9624"/>
            <a:ext cx="301752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30" b="0">
                <a:solidFill>
                  <a:srgbClr val="9FC5E8"/>
                </a:solidFill>
                <a:latin typeface="Google Sans"/>
              </a:rPr>
              <a:t>пробег к 21.09.2026, 150+ тыс. поездок пассажиров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417320"/>
            <a:ext cx="4919472" cy="2843784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0" y="1417320"/>
            <a:ext cx="54864" cy="2843784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86784" y="1508760"/>
            <a:ext cx="4663440" cy="269747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Google Sans Medium"/>
              </a:rPr>
              <a:t>Почему нужен независимый резерв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GNSS в Москве глушится и искажается: сбои в центре в мае 2023, деградация над центром и западом весной 2025 (Spire), предупреждения Росавиации о помехах от защиты от БПЛА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Основной стек (лидарная карта, ИНС, камеры, радары) уже не зависит от ГЛОНАСС, но его отказы коррелируют: снег, грязь, вибрация. Нужен канал на других физических принципах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ЭПР (ПП РФ №1006, до 26.07.2027) требует безопасной остановки при сбое бортовой системы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Для этого вагону нужно знать скорость и путь, даже когда основной стек молчит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Кейс задаёт условие: GNSS гарантирован только в первые секунды записи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370832"/>
            <a:ext cx="64008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9FC5E8"/>
                </a:solidFill>
                <a:latin typeface="Google Sans"/>
              </a:rPr>
              <a:t>Задача: </a:t>
            </a:r>
            <a:r>
              <a:rPr sz="1050" b="0">
                <a:solidFill>
                  <a:srgbClr val="FFFFFF"/>
                </a:solidFill>
                <a:latin typeface="Google Sans"/>
              </a:rPr>
              <a:t>независимый и дешёвый канал скорости и пути на сигналах, которые в вагоне уже есть.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Почему трудно: колёса врут, и железная дорога это знает давно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Простое интегрирование колёс ломают юз, боксование, износ бандажа и общий масштаб. Уроки аварий и нормативов: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371600"/>
            <a:ext cx="2679192" cy="224028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371600"/>
            <a:ext cx="2679192" cy="54864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7" y="1481328"/>
            <a:ext cx="242316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Google Sans Medium"/>
              </a:rPr>
              <a:t>Salisbury,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755648"/>
            <a:ext cx="24231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RAIB 12/2023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029968"/>
            <a:ext cx="2450592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Листья и дождь: низкое сцепление, юз, столкновение двух поездов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Колёсная дистанция перестаёт совпадать с путём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Низкое сцепление названо штатной осенней причиной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2679192" cy="224028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1371600"/>
            <a:ext cx="2679192" cy="54864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481328"/>
            <a:ext cx="242316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Google Sans Medium"/>
              </a:rPr>
              <a:t>Marslev, 2011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755648"/>
            <a:ext cx="24231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AIB Denmark, 2013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029968"/>
            <a:ext cx="2450592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IC4 проехал запрещающий сигнал на 651 м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При юзе регистратор насчитал 1 400 м вместо 2 000 м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Рекомендация: верные путь и скорость при низком сцеплении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2" y="1371600"/>
            <a:ext cx="2679192" cy="224028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16752" y="1371600"/>
            <a:ext cx="2679192" cy="54864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53912" y="1481328"/>
            <a:ext cx="242316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Google Sans Medium"/>
              </a:rPr>
              <a:t>Нормативы и практика ETCS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1755648"/>
            <a:ext cx="24231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SUBSET-041 · EN 15595 (WSP)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2029968"/>
            <a:ext cx="2450592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ETCS: путь ±(5 м + 5 % s) от репера, скорость ±2 км/ч до 30 км/ч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Индустрия: колёса + доплер-радар + балисы (DEUTA, Hasler)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У трамвая этого нет: только две тележки и ручка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749039"/>
            <a:ext cx="8311896" cy="65836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3776472"/>
            <a:ext cx="8046720" cy="60350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19" b="1">
                <a:solidFill>
                  <a:srgbClr val="FFFFFF"/>
                </a:solidFill>
                <a:latin typeface="Google Sans"/>
              </a:rPr>
              <a:t>Главный физический вывод: </a:t>
            </a:r>
            <a:r>
              <a:rPr sz="1019" b="0">
                <a:solidFill>
                  <a:srgbClr val="FFFFFF"/>
                </a:solidFill>
                <a:latin typeface="Google Sans"/>
              </a:rPr>
              <a:t>две одинаковые тележки при общем юзе не являются независимыми свидетелями. Если обе согласны и обе расходятся с моделью, по двум скоростям нельзя понять, кто врёт.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Идея: рельс сводит 6 степеней свободы к одной координате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Оцениваем не свободную позу, а путь вдоль известной оси маршрута. x, y, z и направление даёт карта.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371600"/>
            <a:ext cx="3383280" cy="2926080"/>
          </a:xfrm>
          <a:prstGeom prst="rect">
            <a:avLst/>
          </a:prstGeom>
          <a:solidFill>
            <a:srgbClr val="2E275E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108960" cy="2788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Google Sans Medium"/>
              </a:rPr>
              <a:t>Состояние фильтра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Google Sans Medium"/>
              </a:rPr>
              <a:t>x = [ s, v, k, bₐ ]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830" b="0">
                <a:solidFill>
                  <a:srgbClr val="B9B4D6"/>
                </a:solidFill>
                <a:latin typeface="Google Sans"/>
              </a:rPr>
              <a:t>путь · скорость · масштаб колёс · смещение модели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Google Sans Medium"/>
              </a:rPr>
              <a:t>Прогноз скорости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Google Sans Medium"/>
              </a:rPr>
              <a:t>v̇ = a_tab(n, v) − g·i(s) + bₐ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830" b="0">
                <a:solidFill>
                  <a:srgbClr val="B9B4D6"/>
                </a:solidFill>
                <a:latin typeface="Google Sans"/>
              </a:rPr>
              <a:t>n: ручка −15…+15 · i(s): уклон с карты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Google Sans Medium"/>
              </a:rPr>
              <a:t>Выход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9FC5E8"/>
                </a:solidFill>
                <a:latin typeface="Google Sans"/>
              </a:rPr>
              <a:t>p(s) → точка base_link в MGRS, v → /result/velocity, м/с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371600"/>
            <a:ext cx="2340864" cy="138988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931920" y="1371600"/>
            <a:ext cx="54864" cy="138988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78224" y="1463040"/>
            <a:ext cx="2084832" cy="12435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Google Sans Medium"/>
              </a:rPr>
              <a:t>Таблица тяги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Ускорение по ручке и скорости, снято с train-рейсов. Видна зона постоянной мощности: +7…+15 дают 0.8–1.0 м/с² и слабеют с ростом скорости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4224" y="1371600"/>
            <a:ext cx="2340864" cy="138988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64224" y="1371600"/>
            <a:ext cx="54864" cy="138988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463040"/>
            <a:ext cx="2084832" cy="12435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Google Sans Medium"/>
              </a:rPr>
              <a:t>Уклон с карты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g·i(s) из профиля высоты, |i| до 40 ‰: до 0.39 м/с², почти половина ускорения полной тяги (0.8–1.0 м/с²)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852928"/>
            <a:ext cx="2340864" cy="138988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31920" y="2852928"/>
            <a:ext cx="54864" cy="138988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78224" y="2944368"/>
            <a:ext cx="2084832" cy="12435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Google Sans Medium"/>
              </a:rPr>
              <a:t>Консенсус тележек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Несогласная тележка не выключается, а теряет вес: R = 25 (м/с)². Порог NIS &gt; 16 или расхождение &gt; max(0.3; 4√2R) м/с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64224" y="2852928"/>
            <a:ext cx="2340864" cy="138988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64224" y="2852928"/>
            <a:ext cx="54864" cy="138988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2944368"/>
            <a:ext cx="2084832" cy="12435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Google Sans Medium"/>
              </a:rPr>
              <a:t>Якоря станций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Остановка у единственной станции в воротах даёт абсолютное s. Масштаб k по колёсам не учится, его двигают только якоря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389120"/>
            <a:ext cx="64008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9FC5E8"/>
                </a:solidFill>
                <a:latin typeface="Google Sans"/>
              </a:rPr>
              <a:t>GNSS </a:t>
            </a:r>
            <a:r>
              <a:rPr sz="950" b="0">
                <a:solidFill>
                  <a:srgbClr val="FFFFFF"/>
                </a:solidFill>
                <a:latin typeface="Google Sans"/>
              </a:rPr>
              <a:t>читается только 3 с от первого валидного фикса, для выставки на карту. Потом подписка физически снимается.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Архитектура: ROS 2 Humble снаружи, ядро C++17 внутри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Каждый слой читает одно ядро. Диагностика и теневые гипотезы не подменяют оценку, а объясняют её.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371600"/>
            <a:ext cx="1554480" cy="248716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1426464"/>
            <a:ext cx="13716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3F6FD1"/>
                </a:solidFill>
                <a:latin typeface="Google Sans Medium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810512"/>
            <a:ext cx="137160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Google Sans Medium"/>
              </a:rPr>
              <a:t>Входы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2240280"/>
            <a:ext cx="1389888" cy="1600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Передняя и задняя тележки (км/ч → м/с)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Ручка контроллера −15…+15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GNSS master/rover: только окно 3 с</a:t>
            </a:r>
          </a:p>
        </p:txBody>
      </p:sp>
      <p:sp>
        <p:nvSpPr>
          <p:cNvPr id="9" name="Chevron 8"/>
          <p:cNvSpPr/>
          <p:nvPr/>
        </p:nvSpPr>
        <p:spPr>
          <a:xfrm>
            <a:off x="1947672" y="2487168"/>
            <a:ext cx="118872" cy="237744"/>
          </a:xfrm>
          <a:prstGeom prst="chevron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071116" y="1371600"/>
            <a:ext cx="1554480" cy="248716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80844" y="1426464"/>
            <a:ext cx="13716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3F6FD1"/>
                </a:solidFill>
                <a:latin typeface="Google Sans Medium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0844" y="1810512"/>
            <a:ext cx="137160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Google Sans Medium"/>
              </a:rPr>
              <a:t>Порядок по штампам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0844" y="2240280"/>
            <a:ext cx="1389888" cy="1600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Общая очередь трёх потоков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Отставший поток не обгоняется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Выход несёт штамп входа, без /clock</a:t>
            </a:r>
          </a:p>
        </p:txBody>
      </p:sp>
      <p:sp>
        <p:nvSpPr>
          <p:cNvPr id="14" name="Chevron 13"/>
          <p:cNvSpPr/>
          <p:nvPr/>
        </p:nvSpPr>
        <p:spPr>
          <a:xfrm>
            <a:off x="3634739" y="2487168"/>
            <a:ext cx="118872" cy="237744"/>
          </a:xfrm>
          <a:prstGeom prst="chevron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58184" y="1371600"/>
            <a:ext cx="1554480" cy="248716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67912" y="1426464"/>
            <a:ext cx="13716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3F6FD1"/>
                </a:solidFill>
                <a:latin typeface="Google Sans Medium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2" y="1810512"/>
            <a:ext cx="137160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Google Sans Medium"/>
              </a:rPr>
              <a:t>Фильтр [s, v, k, bₐ]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7912" y="2240280"/>
            <a:ext cx="1389888" cy="1600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Прогноз по таблице и уклону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Обновление по двум тележкам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Якоря станций, ZUPT на стоянке</a:t>
            </a:r>
          </a:p>
        </p:txBody>
      </p:sp>
      <p:sp>
        <p:nvSpPr>
          <p:cNvPr id="19" name="Chevron 18"/>
          <p:cNvSpPr/>
          <p:nvPr/>
        </p:nvSpPr>
        <p:spPr>
          <a:xfrm>
            <a:off x="5321808" y="2487168"/>
            <a:ext cx="118872" cy="237744"/>
          </a:xfrm>
          <a:prstGeom prst="chevron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45252" y="1371600"/>
            <a:ext cx="1554480" cy="248716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54980" y="1426464"/>
            <a:ext cx="13716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3F6FD1"/>
                </a:solidFill>
                <a:latin typeface="Google Sans Medium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4980" y="1810512"/>
            <a:ext cx="137160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Google Sans Medium"/>
              </a:rPr>
              <a:t>Монитор целостности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4980" y="2240280"/>
            <a:ext cx="1389888" cy="1600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FaultScore по каждой тележке (EWMA)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Банк из 5 теневых гипотез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Режимы и слепой бюджет</a:t>
            </a:r>
          </a:p>
        </p:txBody>
      </p:sp>
      <p:sp>
        <p:nvSpPr>
          <p:cNvPr id="24" name="Chevron 23"/>
          <p:cNvSpPr/>
          <p:nvPr/>
        </p:nvSpPr>
        <p:spPr>
          <a:xfrm>
            <a:off x="7008876" y="2487168"/>
            <a:ext cx="118872" cy="237744"/>
          </a:xfrm>
          <a:prstGeom prst="chevron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32320" y="1371600"/>
            <a:ext cx="1554480" cy="248716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42048" y="1426464"/>
            <a:ext cx="13716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3F6FD1"/>
                </a:solidFill>
                <a:latin typeface="Google Sans Medium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1810512"/>
            <a:ext cx="137160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Google Sans Medium"/>
              </a:rPr>
              <a:t>Выходы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2240280"/>
            <a:ext cx="1389888" cy="1600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/result/velocity, м/с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/result/position: base_link, MGRS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860" b="0">
                <a:solidFill>
                  <a:srgbClr val="FFFFFF"/>
                </a:solidFill>
                <a:latin typeface="Google Sans"/>
              </a:rPr>
              <a:t>/result/diagnostics: режим, σ, причины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968496"/>
            <a:ext cx="8311896" cy="457200"/>
          </a:xfrm>
          <a:prstGeom prst="rect">
            <a:avLst/>
          </a:prstGeom>
          <a:solidFill>
            <a:srgbClr val="2E2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986784"/>
            <a:ext cx="8138160" cy="42062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9FC5E8"/>
                </a:solidFill>
                <a:latin typeface="Google Sans"/>
              </a:rPr>
              <a:t>Для жюри одна команда: </a:t>
            </a:r>
            <a:r>
              <a:rPr sz="900" b="0">
                <a:solidFill>
                  <a:srgbClr val="FFFFFF"/>
                </a:solidFill>
                <a:latin typeface="Google Sans Code"/>
              </a:rPr>
              <a:t>scripts/jury.sh play --bag &lt;rosbag2&gt; --msgs &lt;tram_vehicle_msgs&gt;</a:t>
            </a:r>
            <a:r>
              <a:rPr sz="950" b="0">
                <a:solidFill>
                  <a:srgbClr val="FFFFFF"/>
                </a:solidFill>
                <a:latin typeface="Google Sans"/>
              </a:rPr>
              <a:t>  · Docker, сеть хоста не нужна · Windows, Linux, macOS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Целостность: лучше «не знаю», чем уверенная ошибка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Доверие публикуется отдельно для скорости и для положения. Решение принимает автоматика вагона, а не надежда на фильтр.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389888"/>
            <a:ext cx="2011680" cy="420624"/>
          </a:xfrm>
          <a:prstGeom prst="rect">
            <a:avLst/>
          </a:prstGeom>
          <a:solidFill>
            <a:srgbClr val="5B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389888"/>
            <a:ext cx="2011680" cy="42062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A1230"/>
                </a:solidFill>
                <a:latin typeface="Google Sans Medium"/>
              </a:rPr>
              <a:t>NOMINAL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856231"/>
            <a:ext cx="2011680" cy="1847088"/>
          </a:xfrm>
          <a:prstGeom prst="rect">
            <a:avLst/>
          </a:prstGeom>
          <a:solidFill>
            <a:srgbClr val="261D4A"/>
          </a:solidFill>
          <a:ln w="9525">
            <a:solidFill>
              <a:srgbClr val="5B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920240"/>
            <a:ext cx="1810512" cy="17830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Когда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30" b="0">
                <a:solidFill>
                  <a:srgbClr val="FFFFFF"/>
                </a:solidFill>
                <a:latin typeface="Google Sans"/>
              </a:rPr>
              <a:t>Тележки согласны между собой и с моделью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Что делаем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9FC5E8"/>
                </a:solidFill>
                <a:latin typeface="Google Sans"/>
              </a:rPr>
              <a:t>Скорость и положение HIGH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8024" y="1389888"/>
            <a:ext cx="2011680" cy="420624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78024" y="1389888"/>
            <a:ext cx="2011680" cy="42062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A1230"/>
                </a:solidFill>
                <a:latin typeface="Google Sans Medium"/>
              </a:rPr>
              <a:t>ОДНА ТЕЛЕЖКА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8024" y="1856231"/>
            <a:ext cx="2011680" cy="1847088"/>
          </a:xfrm>
          <a:prstGeom prst="rect">
            <a:avLst/>
          </a:prstGeom>
          <a:solidFill>
            <a:srgbClr val="261D4A"/>
          </a:solidFill>
          <a:ln w="9525">
            <a:solidFill>
              <a:srgbClr val="F2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7752" y="1920240"/>
            <a:ext cx="1810512" cy="17830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Когда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30" b="0">
                <a:solidFill>
                  <a:srgbClr val="FFFFFF"/>
                </a:solidFill>
                <a:latin typeface="Google Sans"/>
              </a:rPr>
              <a:t>Одна расходится с прогнозом, молчит или NaN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Что делаем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9FC5E8"/>
                </a:solidFill>
                <a:latin typeface="Google Sans"/>
              </a:rPr>
              <a:t>Её вес падает (R = 25), модель держит непрерывность, канал возвращается сам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389888"/>
            <a:ext cx="2011680" cy="420624"/>
          </a:xfrm>
          <a:prstGeom prst="rect">
            <a:avLst/>
          </a:prstGeom>
          <a:solidFill>
            <a:srgbClr val="EE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389888"/>
            <a:ext cx="2011680" cy="42062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A1230"/>
                </a:solidFill>
                <a:latin typeface="Google Sans Medium"/>
              </a:rPr>
              <a:t>ОБЩАЯ МОДА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856231"/>
            <a:ext cx="2011680" cy="1847088"/>
          </a:xfrm>
          <a:prstGeom prst="rect">
            <a:avLst/>
          </a:prstGeom>
          <a:solidFill>
            <a:srgbClr val="261D4A"/>
          </a:solidFill>
          <a:ln w="9525">
            <a:solidFill>
              <a:srgbClr val="EE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1728" y="1920240"/>
            <a:ext cx="1810512" cy="17830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Когда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30" b="0">
                <a:solidFill>
                  <a:srgbClr val="FFFFFF"/>
                </a:solidFill>
                <a:latin typeface="Google Sans"/>
              </a:rPr>
              <a:t>Обе согласны и обе расходятся с моделью дольше 3 с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Что делаем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9FC5E8"/>
                </a:solidFill>
                <a:latin typeface="Google Sans"/>
              </a:rPr>
              <a:t>Колёса в состояние не берём, k и bₐ заморожены, σ растёт, ждём якорь станции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5976" y="1389888"/>
            <a:ext cx="2011680" cy="420624"/>
          </a:xfrm>
          <a:prstGeom prst="rect">
            <a:avLst/>
          </a:prstGeom>
          <a:solidFill>
            <a:srgbClr val="E4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65976" y="1389888"/>
            <a:ext cx="2011680" cy="42062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A1230"/>
                </a:solidFill>
                <a:latin typeface="Google Sans Medium"/>
              </a:rPr>
              <a:t>LOST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5976" y="1856231"/>
            <a:ext cx="2011680" cy="1847088"/>
          </a:xfrm>
          <a:prstGeom prst="rect">
            <a:avLst/>
          </a:prstGeom>
          <a:solidFill>
            <a:srgbClr val="261D4A"/>
          </a:solidFill>
          <a:ln w="9525">
            <a:solidFill>
              <a:srgbClr val="E4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75704" y="1920240"/>
            <a:ext cx="1810512" cy="17830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Когда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30" b="0">
                <a:solidFill>
                  <a:srgbClr val="FFFFFF"/>
                </a:solidFill>
                <a:latin typeface="Google Sans"/>
              </a:rPr>
              <a:t>Слепой бюджет 5 с или 100 м исчерпан без якоря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Что делаем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9FC5E8"/>
                </a:solidFill>
                <a:latin typeface="Google Sans"/>
              </a:rPr>
              <a:t>Положение выходит с σ = 1 км и флагом «не использовать», скорость 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803904"/>
            <a:ext cx="4069080" cy="65836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4048" y="3803904"/>
            <a:ext cx="54864" cy="65836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3895344"/>
            <a:ext cx="3813048" cy="512063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>
                <a:solidFill>
                  <a:srgbClr val="FFFFFF"/>
                </a:solidFill>
                <a:latin typeface="Google Sans Medium"/>
              </a:rPr>
              <a:t>μ не оцениваем, и это сознательно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0">
                <a:solidFill>
                  <a:srgbClr val="9FC5E8"/>
                </a:solidFill>
                <a:latin typeface="Google Sans"/>
              </a:rPr>
              <a:t>Сцепление ненаблюдаемо по двум скоростям и ручке: mu_estimate = null, публикуем прокси невязки.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9432" y="3803904"/>
            <a:ext cx="4096512" cy="65836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99432" y="3803904"/>
            <a:ext cx="54864" cy="65836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45736" y="3895344"/>
            <a:ext cx="3840480" cy="512063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>
                <a:solidFill>
                  <a:srgbClr val="FFFFFF"/>
                </a:solidFill>
                <a:latin typeface="Google Sans Medium"/>
              </a:rPr>
              <a:t>Без самообмана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0">
                <a:solidFill>
                  <a:srgbClr val="9FC5E8"/>
                </a:solidFill>
                <a:latin typeface="Google Sans"/>
              </a:rPr>
              <a:t>Граница эмпирическая (p99 train), не сертифицированный protection level. SIL не заявляем.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Демо: три акта на записи маршрута №10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Три терминала: /result/diagnostics, /result/position, /result/velocity. Сбой вносится в копию записи, нода та же.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353312"/>
            <a:ext cx="2679192" cy="278892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353312"/>
            <a:ext cx="777240" cy="310896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353312"/>
            <a:ext cx="777240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Google Sans"/>
              </a:rPr>
              <a:t>Акт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737360"/>
            <a:ext cx="24231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Google Sans Medium"/>
              </a:rPr>
              <a:t>GNSS исчез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103120"/>
            <a:ext cx="2450592" cy="12801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Первые 3 с: gnss=open, фиксы идут в выставку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Затем «GNSS unsubscribed», gnss=closed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Положение в MGRS и скорость продолжаются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3401568"/>
            <a:ext cx="2459736" cy="640080"/>
          </a:xfrm>
          <a:prstGeom prst="rect">
            <a:avLst/>
          </a:prstGeom>
          <a:solidFill>
            <a:srgbClr val="2E2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419856"/>
            <a:ext cx="2331720" cy="60350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1">
                <a:solidFill>
                  <a:srgbClr val="9FC5E8"/>
                </a:solidFill>
                <a:latin typeface="Google Sans"/>
              </a:rPr>
              <a:t>Ни один GNSS-пакет после окна не влияет на состояние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353312"/>
            <a:ext cx="2679192" cy="278892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353312"/>
            <a:ext cx="777240" cy="310896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1353312"/>
            <a:ext cx="777240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Google Sans"/>
              </a:rPr>
              <a:t>Акт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737360"/>
            <a:ext cx="24231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Google Sans Medium"/>
              </a:rPr>
              <a:t>Отказ одной тележки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103120"/>
            <a:ext cx="2450592" cy="12801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Передняя молчит 20 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slip_front / slip_rear по отдельности, mode MODEL → WHEELS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Положение не обрывается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3401568"/>
            <a:ext cx="2459736" cy="640080"/>
          </a:xfrm>
          <a:prstGeom prst="rect">
            <a:avLst/>
          </a:prstGeom>
          <a:solidFill>
            <a:srgbClr val="2E2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0" y="3419856"/>
            <a:ext cx="2331720" cy="60350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1">
                <a:solidFill>
                  <a:srgbClr val="9FC5E8"/>
                </a:solidFill>
                <a:latin typeface="Google Sans"/>
              </a:rPr>
              <a:t>1.60 м RMSE вдоль пути против 1.47 м без сбоя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16752" y="1353312"/>
            <a:ext cx="2679192" cy="278892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16752" y="1353312"/>
            <a:ext cx="777240" cy="310896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16752" y="1353312"/>
            <a:ext cx="777240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Google Sans"/>
              </a:rPr>
              <a:t>Акт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1737360"/>
            <a:ext cx="24231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Google Sans Medium"/>
              </a:rPr>
              <a:t>Честный предел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103120"/>
            <a:ext cx="2450592" cy="12801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Обе тележки ×0.80 на 8 с (общий юз)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COMMON_MODE_SUSPECTED, μ = null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19" b="0">
                <a:solidFill>
                  <a:srgbClr val="FFFFFF"/>
                </a:solidFill>
                <a:latin typeface="Google Sans"/>
              </a:rPr>
              <a:t>Через 3 с общая мода; без станции LOST, σ = 1 км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401568"/>
            <a:ext cx="2459736" cy="640080"/>
          </a:xfrm>
          <a:prstGeom prst="rect">
            <a:avLst/>
          </a:prstGeom>
          <a:solidFill>
            <a:srgbClr val="2E2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99632" y="3419856"/>
            <a:ext cx="2331720" cy="60350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19" b="1">
                <a:solidFill>
                  <a:srgbClr val="9FC5E8"/>
                </a:solidFill>
                <a:latin typeface="Google Sans"/>
              </a:rPr>
              <a:t>Мы показываем ненаблюдаемость, а не прячем её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224528"/>
            <a:ext cx="832104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>
                <a:solidFill>
                  <a:srgbClr val="B9B4D6"/>
                </a:solidFill>
                <a:latin typeface="Google Sans"/>
              </a:rPr>
              <a:t>Метрики актов 2–3: офлайн val, 21 рейс, коммит 5cd35fa. Акт 3 на val: медиана 6.46 м вдоль пути, флаг в 95 % прогонов. Резерв: запись экрана на случай сбоя живого демо.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Скоркарта по критериям ТЗ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Каждая строка: критерий, что измерено, чем и где граница доказательства. Официальный checker первым.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325880"/>
            <a:ext cx="1572768" cy="329184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472184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Критерий ТЗ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4248" y="1325880"/>
            <a:ext cx="2121408" cy="329184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400" y="1325880"/>
            <a:ext cx="2020824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Результат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3087" y="1325880"/>
            <a:ext cx="2350008" cy="329184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1325880"/>
            <a:ext cx="2249424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Чем измерено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10527" y="1325880"/>
            <a:ext cx="2157984" cy="329184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79" y="1325880"/>
            <a:ext cx="2057400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Что ещё не доказано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700784"/>
            <a:ext cx="1572768" cy="6217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00784"/>
            <a:ext cx="1453896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Скорость · 0–30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4248" y="1700784"/>
            <a:ext cx="2121408" cy="621792"/>
          </a:xfrm>
          <a:prstGeom prst="rect">
            <a:avLst/>
          </a:prstGeom>
          <a:solidFill>
            <a:srgbClr val="2E275E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57400" y="1700784"/>
            <a:ext cx="2002536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Google Sans Medium"/>
              </a:rPr>
              <a:t>RMSE 0.051 м/с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3087" y="1700784"/>
            <a:ext cx="2350008" cy="6217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0" y="1700784"/>
            <a:ext cx="2231136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официальный checker, запись 88aea4d9, rate 1, полный пакет, 5cd35fa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0527" y="1700784"/>
            <a:ext cx="2157984" cy="6217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79" y="1700784"/>
            <a:ext cx="2039112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2B84B"/>
                </a:solidFill>
                <a:latin typeface="Google Sans"/>
              </a:rPr>
              <a:t>одна запись; скрытая проверка не запускалась; без ручки 0.044 м/с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359152"/>
            <a:ext cx="1572768" cy="6217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359152"/>
            <a:ext cx="1453896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Положение · 0–35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359152"/>
            <a:ext cx="2121408" cy="621792"/>
          </a:xfrm>
          <a:prstGeom prst="rect">
            <a:avLst/>
          </a:prstGeom>
          <a:solidFill>
            <a:srgbClr val="2E275E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57400" y="2359152"/>
            <a:ext cx="2002536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Google Sans Medium"/>
              </a:rPr>
              <a:t>RMSE 2.15 м (3D), max 5.65 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33087" y="2359152"/>
            <a:ext cx="2350008" cy="6217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06240" y="2359152"/>
            <a:ext cx="2231136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тот же прогон (повтор 1178c67: 2.11 м); без ручки 5.45 м; офлайн val 1.47 м вдоль пути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0527" y="2359152"/>
            <a:ext cx="2157984" cy="6217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79" y="2359152"/>
            <a:ext cx="2039112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2B84B"/>
                </a:solidFill>
                <a:latin typeface="Google Sans"/>
              </a:rPr>
              <a:t>одна запись checker; кольцо вместо pathgraph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017520"/>
            <a:ext cx="1572768" cy="6217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017520"/>
            <a:ext cx="1453896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Устойчивость · 0–20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84248" y="3017520"/>
            <a:ext cx="2121408" cy="621792"/>
          </a:xfrm>
          <a:prstGeom prst="rect">
            <a:avLst/>
          </a:prstGeom>
          <a:solidFill>
            <a:srgbClr val="2E275E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57400" y="3017520"/>
            <a:ext cx="2002536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Google Sans Medium"/>
              </a:rPr>
              <a:t>режимы NOMINAL → LOST; 1.60 м при отказе тележки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3087" y="3017520"/>
            <a:ext cx="2350008" cy="6217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06240" y="3017520"/>
            <a:ext cx="2231136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матрица сбоев, val 21 рейс, коммит 5cd35fa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10527" y="3017520"/>
            <a:ext cx="2157984" cy="6217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79" y="3017520"/>
            <a:ext cx="2039112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2B84B"/>
                </a:solidFill>
                <a:latin typeface="Google Sans"/>
              </a:rPr>
              <a:t>общая мода без якоря ненаблюдаема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3675887"/>
            <a:ext cx="1572768" cy="6217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3675887"/>
            <a:ext cx="1453896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Реальное время · 0–15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84248" y="3675887"/>
            <a:ext cx="2121408" cy="621792"/>
          </a:xfrm>
          <a:prstGeom prst="rect">
            <a:avLst/>
          </a:prstGeom>
          <a:solidFill>
            <a:srgbClr val="2E275E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057400" y="3675887"/>
            <a:ext cx="2002536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Google Sans Medium"/>
              </a:rPr>
              <a:t>29.3 Гц (без ручки 19.4 Гц); задержка медиана 53 мс; 24 МБ, 0.9 % ядра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33087" y="3675887"/>
            <a:ext cx="2350008" cy="6217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06240" y="3675887"/>
            <a:ext cx="2231136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rate 1, вся запись 22 мин, latency_probe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10527" y="3675887"/>
            <a:ext cx="2157984" cy="6217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79" y="3675887"/>
            <a:ext cx="2039112" cy="6217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2B84B"/>
                </a:solidFill>
                <a:latin typeface="Google Sans"/>
              </a:rPr>
              <a:t>хвост задержки при полном пакете: p95 154 мс, max 305 мс (&gt; 250 мс у 0.09 %)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4352544"/>
            <a:ext cx="640080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>
                <a:solidFill>
                  <a:srgbClr val="B9B4D6"/>
                </a:solidFill>
                <a:latin typeface="Google Sans"/>
              </a:rPr>
              <a:t>Главное число: 2.15 м / 0.051 м/с (5cd35fa, полный пакет); одиночный повтор ноды 1178c67: 2.11 м. Без DriverControllerCommand (e863195): 5.45 м, 0.044 м/с, 19.4 Гц. Checker есть только для 30618_88aea4d9: kinematic_state только в ней.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SOTA 2026: где RailBreak на карте подходов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Не соревнуемся с лидарной локализацией МТТЕХ, а страхуем её: дешёвый независимый канал на штатных сигналах вагона.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325880"/>
            <a:ext cx="2304288" cy="329184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" y="1325880"/>
            <a:ext cx="2221991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1">
                <a:solidFill>
                  <a:srgbClr val="FFFFFF"/>
                </a:solidFill>
                <a:latin typeface="Google Sans"/>
              </a:rPr>
              <a:t>Подход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5768" y="1325880"/>
            <a:ext cx="1755648" cy="329184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79775" y="1325880"/>
            <a:ext cx="1673352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1">
                <a:solidFill>
                  <a:srgbClr val="FFFFFF"/>
                </a:solidFill>
                <a:latin typeface="Google Sans"/>
              </a:rPr>
              <a:t>Датчики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8848" y="1325880"/>
            <a:ext cx="932688" cy="329184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62856" y="1325880"/>
            <a:ext cx="850392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1">
                <a:solidFill>
                  <a:srgbClr val="FFFFFF"/>
                </a:solidFill>
                <a:latin typeface="Google Sans"/>
              </a:rPr>
              <a:t>Без GNSS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58968" y="1325880"/>
            <a:ext cx="1572768" cy="329184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22976" y="1325880"/>
            <a:ext cx="1490472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1">
                <a:solidFill>
                  <a:srgbClr val="FFFFFF"/>
                </a:solidFill>
                <a:latin typeface="Google Sans"/>
              </a:rPr>
              <a:t>Цена и инфраструктура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9168" y="1325880"/>
            <a:ext cx="1609344" cy="329184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23176" y="1325880"/>
            <a:ext cx="1527048" cy="32918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1">
                <a:solidFill>
                  <a:srgbClr val="FFFFFF"/>
                </a:solidFill>
                <a:latin typeface="Google Sans"/>
              </a:rPr>
              <a:t>Честность при отказе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691640"/>
            <a:ext cx="230428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" y="1691640"/>
            <a:ext cx="2221991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1">
                <a:solidFill>
                  <a:srgbClr val="FFFFFF"/>
                </a:solidFill>
                <a:latin typeface="Google Sans"/>
              </a:rPr>
              <a:t>Лидар по HD-карте (стек МТТЕХ)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15768" y="1691640"/>
            <a:ext cx="175564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79775" y="1691640"/>
            <a:ext cx="167335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лидары 360°, камеры, радары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8848" y="1691640"/>
            <a:ext cx="93268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62856" y="1691640"/>
            <a:ext cx="85039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да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58968" y="1691640"/>
            <a:ext cx="157276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22976" y="1691640"/>
            <a:ext cx="149047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высокая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9168" y="1691640"/>
            <a:ext cx="1609344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23176" y="1691640"/>
            <a:ext cx="1527048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вне кейса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2121408"/>
            <a:ext cx="230428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" y="2121408"/>
            <a:ext cx="2221991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1">
                <a:solidFill>
                  <a:srgbClr val="FFFFFF"/>
                </a:solidFill>
                <a:latin typeface="Google Sans"/>
              </a:rPr>
              <a:t>ETCS / CBTC: тахометры + радар + балисы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15768" y="2121408"/>
            <a:ext cx="175564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79775" y="2121408"/>
            <a:ext cx="167335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радар, балисы в пути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8848" y="2121408"/>
            <a:ext cx="93268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62856" y="2121408"/>
            <a:ext cx="85039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да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58968" y="2121408"/>
            <a:ext cx="157276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22976" y="2121408"/>
            <a:ext cx="149047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путевая инфраструктура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59168" y="2121408"/>
            <a:ext cx="1609344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23176" y="2121408"/>
            <a:ext cx="1527048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SIL-сертификация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2551176"/>
            <a:ext cx="230428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8056" y="2551176"/>
            <a:ext cx="2221991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1">
                <a:solidFill>
                  <a:srgbClr val="FFFFFF"/>
                </a:solidFill>
                <a:latin typeface="Google Sans"/>
              </a:rPr>
              <a:t>Cognitive Navigation (РФ)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15768" y="2551176"/>
            <a:ext cx="175564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79775" y="2551176"/>
            <a:ext cx="167335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GNSS, одометр, IMU, карта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98848" y="2551176"/>
            <a:ext cx="93268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62856" y="2551176"/>
            <a:ext cx="85039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да, с IMU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58968" y="2551176"/>
            <a:ext cx="157276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22976" y="2551176"/>
            <a:ext cx="149047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средняя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59168" y="2551176"/>
            <a:ext cx="1609344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23176" y="2551176"/>
            <a:ext cx="1527048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не раскрыто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2980944"/>
            <a:ext cx="230428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2980944"/>
            <a:ext cx="2221991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1">
                <a:solidFill>
                  <a:srgbClr val="FFFFFF"/>
                </a:solidFill>
                <a:latin typeface="Google Sans"/>
              </a:rPr>
              <a:t>Path-constrained 1D (von Einem 2023; Heirich 2016)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15768" y="2980944"/>
            <a:ext cx="175564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79775" y="2980944"/>
            <a:ext cx="167335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IMU/VIO или GNSS + карта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98848" y="2980944"/>
            <a:ext cx="93268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62856" y="2980944"/>
            <a:ext cx="85039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да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58968" y="2980944"/>
            <a:ext cx="157276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522976" y="2980944"/>
            <a:ext cx="149047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средняя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59168" y="2980944"/>
            <a:ext cx="1609344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123176" y="2980944"/>
            <a:ext cx="1527048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гипотезы на стрелках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" y="3410712"/>
            <a:ext cx="230428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8056" y="3410712"/>
            <a:ext cx="2221991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1">
                <a:solidFill>
                  <a:srgbClr val="FFFFFF"/>
                </a:solidFill>
                <a:latin typeface="Google Sans"/>
              </a:rPr>
              <a:t>Обученная детекция юза (wavelet+LSTM, 2024)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15768" y="3410712"/>
            <a:ext cx="175564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79775" y="3410712"/>
            <a:ext cx="167335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колёса + разметка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98848" y="3410712"/>
            <a:ext cx="93268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62856" y="3410712"/>
            <a:ext cx="85039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да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58968" y="3410712"/>
            <a:ext cx="1572768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22976" y="3410712"/>
            <a:ext cx="149047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низкая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410712"/>
            <a:ext cx="1609344" cy="393192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123176" y="3410712"/>
            <a:ext cx="1527048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domain shift, нет integrity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" y="3840479"/>
            <a:ext cx="2304288" cy="393192"/>
          </a:xfrm>
          <a:prstGeom prst="rect">
            <a:avLst/>
          </a:prstGeom>
          <a:solidFill>
            <a:srgbClr val="2E275E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48056" y="3840479"/>
            <a:ext cx="2221991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FFFFFF"/>
                </a:solidFill>
                <a:latin typeface="Google Sans"/>
              </a:rPr>
              <a:t>RailBreak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15768" y="3840479"/>
            <a:ext cx="1755648" cy="393192"/>
          </a:xfrm>
          <a:prstGeom prst="rect">
            <a:avLst/>
          </a:prstGeom>
          <a:solidFill>
            <a:srgbClr val="2E275E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79775" y="3840479"/>
            <a:ext cx="167335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FFFFFF"/>
                </a:solidFill>
                <a:latin typeface="Google Sans"/>
              </a:rPr>
              <a:t>2 тележки + ручка + карта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98848" y="3840479"/>
            <a:ext cx="932688" cy="393192"/>
          </a:xfrm>
          <a:prstGeom prst="rect">
            <a:avLst/>
          </a:prstGeom>
          <a:solidFill>
            <a:srgbClr val="2E275E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562856" y="3840479"/>
            <a:ext cx="85039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FFFFFF"/>
                </a:solidFill>
                <a:latin typeface="Google Sans"/>
              </a:rPr>
              <a:t>да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58968" y="3840479"/>
            <a:ext cx="1572768" cy="393192"/>
          </a:xfrm>
          <a:prstGeom prst="rect">
            <a:avLst/>
          </a:prstGeom>
          <a:solidFill>
            <a:srgbClr val="2E275E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522976" y="3840479"/>
            <a:ext cx="1490472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FFFFFF"/>
                </a:solidFill>
                <a:latin typeface="Google Sans"/>
              </a:rPr>
              <a:t>0 новых датчиков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59168" y="3840479"/>
            <a:ext cx="1609344" cy="393192"/>
          </a:xfrm>
          <a:prstGeom prst="rect">
            <a:avLst/>
          </a:prstGeom>
          <a:solidFill>
            <a:srgbClr val="2E275E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123176" y="3840479"/>
            <a:ext cx="1527048" cy="3931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1">
                <a:solidFill>
                  <a:srgbClr val="FFFFFF"/>
                </a:solidFill>
                <a:latin typeface="Google Sans"/>
              </a:rPr>
              <a:t>NOMINAL → LOST, σ; GNSS только 3 с старта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4048" y="4315968"/>
            <a:ext cx="630936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>
                <a:solidFill>
                  <a:srgbClr val="B9B4D6"/>
                </a:solidFill>
                <a:latin typeface="Google Sans"/>
              </a:rPr>
              <a:t>Новизна не в 1D-постановке (она известна), а в сочетании: минимум датчиков без IMU, явная ненаблюдаемость общей моды, воспроизводимый ROS 2 пакет.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После хакатона: от записи к теневому режиму на маршруте №10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Путь как у UITP и Europe’s Rail: сначала тень рядом с основным стеком, потом обоснование безопасности. Каждый шаг снимает конкретное ограничение.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371600"/>
            <a:ext cx="2011680" cy="384048"/>
          </a:xfrm>
          <a:prstGeom prst="rect">
            <a:avLst/>
          </a:prstGeom>
          <a:solidFill>
            <a:srgbClr val="5B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371600"/>
            <a:ext cx="2011680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1A1230"/>
                </a:solidFill>
                <a:latin typeface="Google Sans Medium"/>
              </a:rPr>
              <a:t>2 недели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792224"/>
            <a:ext cx="2011680" cy="1847088"/>
          </a:xfrm>
          <a:prstGeom prst="rect">
            <a:avLst/>
          </a:prstGeom>
          <a:solidFill>
            <a:srgbClr val="261D4A"/>
          </a:solidFill>
          <a:ln w="9525">
            <a:solidFill>
              <a:srgbClr val="5B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856231"/>
            <a:ext cx="1810512" cy="17830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19" b="1">
                <a:solidFill>
                  <a:srgbClr val="FFFFFF"/>
                </a:solidFill>
                <a:latin typeface="Google Sans Medium"/>
              </a:rPr>
              <a:t>Закрыть долги доказательства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90" b="0">
                <a:solidFill>
                  <a:srgbClr val="9FC5E8"/>
                </a:solidFill>
                <a:latin typeface="Google Sans"/>
              </a:rPr>
              <a:t>Checker на всех записях, хвост задержки &lt; 250 мс, pathgraph вместо кольца, детектор медленного расхождения тележек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8024" y="1371600"/>
            <a:ext cx="2011680" cy="38404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78024" y="1371600"/>
            <a:ext cx="2011680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Google Sans Medium"/>
              </a:rPr>
              <a:t>1–3 месяца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8024" y="1792224"/>
            <a:ext cx="2011680" cy="184708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7752" y="1856231"/>
            <a:ext cx="1810512" cy="17830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19" b="1">
                <a:solidFill>
                  <a:srgbClr val="FFFFFF"/>
                </a:solidFill>
                <a:latin typeface="Google Sans Medium"/>
              </a:rPr>
              <a:t>Теневой режим на вагоне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90" b="0">
                <a:solidFill>
                  <a:srgbClr val="9FC5E8"/>
                </a:solidFill>
                <a:latin typeface="Google Sans"/>
              </a:rPr>
              <a:t>Рядом с лидарной локализацией МТТЕХ как эталоном; реальные сбои тележек в библиотеку; калибровка таблицы тяги по сезонам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371600"/>
            <a:ext cx="2011680" cy="38404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371600"/>
            <a:ext cx="2011680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Google Sans Medium"/>
              </a:rPr>
              <a:t>3–6 месяцев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792224"/>
            <a:ext cx="2011680" cy="184708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1728" y="1856231"/>
            <a:ext cx="1810512" cy="17830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19" b="1">
                <a:solidFill>
                  <a:srgbClr val="FFFFFF"/>
                </a:solidFill>
                <a:latin typeface="Google Sans Medium"/>
              </a:rPr>
              <a:t>Граф и новые маршруты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90" b="0">
                <a:solidFill>
                  <a:srgbClr val="9FC5E8"/>
                </a:solidFill>
                <a:latin typeface="Google Sans"/>
              </a:rPr>
              <a:t>Гипотезы на стрелках и в депо; все 11 маршрутов Краснопресненской сети, где лаборатории уже снимают карту (mos.ru, 21.09.2026)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5976" y="1371600"/>
            <a:ext cx="2011680" cy="38404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65976" y="1371600"/>
            <a:ext cx="2011680" cy="38404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Google Sans Medium"/>
              </a:rPr>
              <a:t>6–12 месяцев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5976" y="1792224"/>
            <a:ext cx="2011680" cy="184708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75704" y="1856231"/>
            <a:ext cx="1810512" cy="17830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19" b="1">
                <a:solidFill>
                  <a:srgbClr val="FFFFFF"/>
                </a:solidFill>
                <a:latin typeface="Google Sans Medium"/>
              </a:rPr>
              <a:t>Обоснование безопасности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90" b="0">
                <a:solidFill>
                  <a:srgbClr val="9FC5E8"/>
                </a:solidFill>
                <a:latin typeface="Google Sans"/>
              </a:rPr>
              <a:t>Слепой бюджет из тормозного пути; журнал опасностей по EN 50126; HIL-стенд со сбоями WSP; вклад в safety case до конца ЭПР (07.2027)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749039"/>
            <a:ext cx="8293608" cy="676656"/>
          </a:xfrm>
          <a:prstGeom prst="rect">
            <a:avLst/>
          </a:prstGeom>
          <a:solidFill>
            <a:srgbClr val="2E275E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4048" y="3749039"/>
            <a:ext cx="54864" cy="676656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58754"/>
            <a:ext cx="8046720" cy="475515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dirty="0" err="1">
                <a:solidFill>
                  <a:srgbClr val="9FC5E8"/>
                </a:solidFill>
                <a:latin typeface="Google Sans"/>
              </a:rPr>
              <a:t>Запрос</a:t>
            </a:r>
            <a:r>
              <a:rPr sz="950" b="1" dirty="0">
                <a:solidFill>
                  <a:srgbClr val="9FC5E8"/>
                </a:solidFill>
                <a:latin typeface="Google Sans"/>
              </a:rPr>
              <a:t> к МТТЕХ: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доступ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к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записям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и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шине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вагона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маршрута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№10 и к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эталону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локализации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на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время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теневого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пилота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. </a:t>
            </a:r>
            <a:br>
              <a:rPr lang="ru-RU" sz="950" b="0">
                <a:solidFill>
                  <a:srgbClr val="FFFFFF"/>
                </a:solidFill>
                <a:latin typeface="Google Sans"/>
              </a:rPr>
            </a:br>
            <a:r>
              <a:rPr sz="950" b="1">
                <a:solidFill>
                  <a:srgbClr val="9FC5E8"/>
                </a:solidFill>
                <a:latin typeface="Google Sans"/>
              </a:rPr>
              <a:t>Критерии</a:t>
            </a:r>
            <a:r>
              <a:rPr sz="950" b="1" dirty="0">
                <a:solidFill>
                  <a:srgbClr val="9FC5E8"/>
                </a:solidFill>
                <a:latin typeface="Google Sans"/>
              </a:rPr>
              <a:t> GO </a:t>
            </a:r>
            <a:r>
              <a:rPr sz="950" b="1" dirty="0" err="1">
                <a:solidFill>
                  <a:srgbClr val="9FC5E8"/>
                </a:solidFill>
                <a:latin typeface="Google Sans"/>
              </a:rPr>
              <a:t>фиксируем</a:t>
            </a:r>
            <a:r>
              <a:rPr sz="950" b="1" dirty="0">
                <a:solidFill>
                  <a:srgbClr val="9FC5E8"/>
                </a:solidFill>
                <a:latin typeface="Google Sans"/>
              </a:rPr>
              <a:t> </a:t>
            </a:r>
            <a:r>
              <a:rPr sz="950" b="1" dirty="0" err="1">
                <a:solidFill>
                  <a:srgbClr val="9FC5E8"/>
                </a:solidFill>
                <a:latin typeface="Google Sans"/>
              </a:rPr>
              <a:t>до</a:t>
            </a:r>
            <a:r>
              <a:rPr sz="950" b="1" dirty="0">
                <a:solidFill>
                  <a:srgbClr val="9FC5E8"/>
                </a:solidFill>
                <a:latin typeface="Google Sans"/>
              </a:rPr>
              <a:t> </a:t>
            </a:r>
            <a:r>
              <a:rPr sz="950" b="1" dirty="0" err="1">
                <a:solidFill>
                  <a:srgbClr val="9FC5E8"/>
                </a:solidFill>
                <a:latin typeface="Google Sans"/>
              </a:rPr>
              <a:t>прогона</a:t>
            </a:r>
            <a:r>
              <a:rPr sz="950" b="1" dirty="0">
                <a:solidFill>
                  <a:srgbClr val="9FC5E8"/>
                </a:solidFill>
                <a:latin typeface="Google Sans"/>
              </a:rPr>
              <a:t>: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доля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времени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в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конверте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±(5 м + 5 %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пути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от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якоря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),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ноль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случаев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«NOMINAL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при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ошибке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сверх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границы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»,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задержка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 ≤ 100 </a:t>
            </a:r>
            <a:r>
              <a:rPr sz="950" b="0" dirty="0" err="1">
                <a:solidFill>
                  <a:srgbClr val="FFFFFF"/>
                </a:solidFill>
                <a:latin typeface="Google Sans"/>
              </a:rPr>
              <a:t>мс</a:t>
            </a:r>
            <a:r>
              <a:rPr sz="950" b="0" dirty="0">
                <a:solidFill>
                  <a:srgbClr val="FFFFFF"/>
                </a:solidFill>
                <a:latin typeface="Google San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Команда: роли, компетенции, ответственность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37548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dirty="0" err="1">
                <a:solidFill>
                  <a:srgbClr val="9FC5E8"/>
                </a:solidFill>
                <a:latin typeface="Google Sans"/>
              </a:rPr>
              <a:t>Три участника с разделённой ответственностью: модель и оценивание; измерение и качество; ROS 2 и демо. Числа принимает не тот, кто их получил.</a:t>
            </a:r>
            <a:endParaRPr sz="1100" b="0" dirty="0">
              <a:solidFill>
                <a:srgbClr val="9FC5E8"/>
              </a:solidFill>
              <a:latin typeface="Google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325880"/>
            <a:ext cx="2697480" cy="146304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325880"/>
            <a:ext cx="54864" cy="1463040"/>
          </a:xfrm>
          <a:prstGeom prst="rect">
            <a:avLst/>
          </a:prstGeom>
          <a:solidFill>
            <a:srgbClr val="E4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399032"/>
            <a:ext cx="1541457" cy="117750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30" b="1" dirty="0" err="1">
                <a:solidFill>
                  <a:srgbClr val="FFFFFF"/>
                </a:solidFill>
                <a:latin typeface="Google Sans Medium"/>
              </a:rPr>
              <a:t>Коньков</a:t>
            </a:r>
            <a:r>
              <a:rPr sz="1030" b="1" dirty="0">
                <a:solidFill>
                  <a:srgbClr val="FFFFFF"/>
                </a:solidFill>
                <a:latin typeface="Google Sans Medium"/>
              </a:rPr>
              <a:t> </a:t>
            </a:r>
            <a:r>
              <a:rPr sz="1030" b="1" dirty="0" err="1">
                <a:solidFill>
                  <a:srgbClr val="FFFFFF"/>
                </a:solidFill>
                <a:latin typeface="Google Sans Medium"/>
              </a:rPr>
              <a:t>Дмитрий</a:t>
            </a:r>
            <a:endParaRPr sz="1030" b="1" dirty="0">
              <a:solidFill>
                <a:srgbClr val="FFFFFF"/>
              </a:solidFill>
              <a:latin typeface="Google Sans Medium"/>
            </a:endParaRP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 dirty="0" err="1">
                <a:solidFill>
                  <a:srgbClr val="F2B84B"/>
                </a:solidFill>
                <a:latin typeface="Google Sans"/>
              </a:rPr>
              <a:t>Капитан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·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модель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и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ядро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оценивания</a:t>
            </a:r>
            <a:endParaRPr sz="869" b="0" dirty="0">
              <a:solidFill>
                <a:srgbClr val="F2B84B"/>
              </a:solidFill>
              <a:latin typeface="Google Sans"/>
            </a:endParaRP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 dirty="0" err="1">
                <a:solidFill>
                  <a:srgbClr val="F2B84B"/>
                </a:solidFill>
                <a:latin typeface="Google Sans"/>
              </a:rPr>
              <a:t>Модель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тяги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и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уклона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,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фильтр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[s, v, k, bₐ]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 dirty="0" err="1">
                <a:solidFill>
                  <a:srgbClr val="F2B84B"/>
                </a:solidFill>
                <a:latin typeface="Google Sans"/>
              </a:rPr>
              <a:t>Монитор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целостности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и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режимы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деградации</a:t>
            </a:r>
            <a:endParaRPr sz="869" b="0" dirty="0">
              <a:solidFill>
                <a:srgbClr val="F2B84B"/>
              </a:solidFill>
              <a:latin typeface="Google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72968" y="1325880"/>
            <a:ext cx="2697480" cy="146304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72968" y="1325880"/>
            <a:ext cx="54864" cy="1463040"/>
          </a:xfrm>
          <a:prstGeom prst="rect">
            <a:avLst/>
          </a:prstGeom>
          <a:solidFill>
            <a:srgbClr val="E4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9272" y="1399032"/>
            <a:ext cx="1384900" cy="117750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30" b="1" dirty="0" err="1">
                <a:solidFill>
                  <a:srgbClr val="FFFFFF"/>
                </a:solidFill>
                <a:latin typeface="Google Sans Medium"/>
              </a:rPr>
              <a:t>Конькова</a:t>
            </a:r>
            <a:r>
              <a:rPr sz="1030" b="1" dirty="0">
                <a:solidFill>
                  <a:srgbClr val="FFFFFF"/>
                </a:solidFill>
                <a:latin typeface="Google Sans Medium"/>
              </a:rPr>
              <a:t> </a:t>
            </a:r>
            <a:r>
              <a:rPr sz="1030" b="1" dirty="0" err="1">
                <a:solidFill>
                  <a:srgbClr val="FFFFFF"/>
                </a:solidFill>
                <a:latin typeface="Google Sans Medium"/>
              </a:rPr>
              <a:t>Елена</a:t>
            </a:r>
            <a:endParaRPr sz="1030" b="1" dirty="0">
              <a:solidFill>
                <a:srgbClr val="FFFFFF"/>
              </a:solidFill>
              <a:latin typeface="Google Sans Medium"/>
            </a:endParaRP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 dirty="0" err="1">
                <a:solidFill>
                  <a:srgbClr val="F2B84B"/>
                </a:solidFill>
                <a:latin typeface="Google Sans"/>
              </a:rPr>
              <a:t>Системный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инженер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·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измерение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и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качество</a:t>
            </a:r>
            <a:endParaRPr sz="869" b="0" dirty="0">
              <a:solidFill>
                <a:srgbClr val="F2B84B"/>
              </a:solidFill>
              <a:latin typeface="Google Sans"/>
            </a:endParaRP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 dirty="0" err="1">
                <a:solidFill>
                  <a:srgbClr val="F2B84B"/>
                </a:solidFill>
                <a:latin typeface="Google Sans"/>
              </a:rPr>
              <a:t>Методика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сравнения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с GNSS-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эталоном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,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скорер</a:t>
            </a:r>
            <a:endParaRPr sz="869" b="0" dirty="0">
              <a:solidFill>
                <a:srgbClr val="F2B84B"/>
              </a:solidFill>
              <a:latin typeface="Google Sans"/>
            </a:endParaRP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 dirty="0" err="1">
                <a:solidFill>
                  <a:srgbClr val="F2B84B"/>
                </a:solidFill>
                <a:latin typeface="Google Sans"/>
              </a:rPr>
              <a:t>Матрица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сбоев</a:t>
            </a:r>
            <a:r>
              <a:rPr sz="869" b="0" dirty="0">
                <a:solidFill>
                  <a:srgbClr val="F2B84B"/>
                </a:solidFill>
                <a:latin typeface="Google Sans"/>
              </a:rPr>
              <a:t> и </a:t>
            </a:r>
            <a:r>
              <a:rPr sz="869" b="0" dirty="0" err="1">
                <a:solidFill>
                  <a:srgbClr val="F2B84B"/>
                </a:solidFill>
                <a:latin typeface="Google Sans"/>
              </a:rPr>
              <a:t>регрессии</a:t>
            </a:r>
            <a:endParaRPr sz="869" b="0" dirty="0">
              <a:solidFill>
                <a:srgbClr val="F2B84B"/>
              </a:solidFill>
              <a:latin typeface="Google 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61888" y="1325880"/>
            <a:ext cx="2697480" cy="146304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61888" y="1325880"/>
            <a:ext cx="54864" cy="1463040"/>
          </a:xfrm>
          <a:prstGeom prst="rect">
            <a:avLst/>
          </a:prstGeom>
          <a:solidFill>
            <a:srgbClr val="E4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1399032"/>
            <a:ext cx="1330036" cy="104374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lang="ru-RU" sz="1030" b="1" dirty="0">
                <a:solidFill>
                  <a:srgbClr val="FFFFFF"/>
                </a:solidFill>
                <a:latin typeface="Google Sans Medium"/>
              </a:rPr>
              <a:t>Ляхов Николай</a:t>
            </a:r>
          </a:p>
          <a:p>
            <a:pPr>
              <a:spcAft>
                <a:spcPts val="500"/>
              </a:spcAft>
            </a:pPr>
            <a:r>
              <a:rPr lang="ru-RU" sz="869" dirty="0">
                <a:solidFill>
                  <a:srgbClr val="F2B84B"/>
                </a:solidFill>
                <a:latin typeface="Google Sans"/>
              </a:rPr>
              <a:t>Архитектура ROS 2 ноды</a:t>
            </a:r>
          </a:p>
          <a:p>
            <a:pPr>
              <a:spcAft>
                <a:spcPts val="500"/>
              </a:spcAft>
            </a:pPr>
            <a:r>
              <a:rPr lang="ru-RU" sz="869" dirty="0">
                <a:solidFill>
                  <a:srgbClr val="F2B84B"/>
                </a:solidFill>
                <a:latin typeface="Google Sans"/>
              </a:rPr>
              <a:t>Профилирование и бенчмарки задержки</a:t>
            </a:r>
          </a:p>
          <a:p>
            <a:pPr>
              <a:spcAft>
                <a:spcPts val="500"/>
              </a:spcAft>
            </a:pPr>
            <a:r>
              <a:rPr lang="ru-RU" sz="869" dirty="0">
                <a:solidFill>
                  <a:srgbClr val="F2B84B"/>
                </a:solidFill>
                <a:latin typeface="Google Sans"/>
              </a:rPr>
              <a:t>Интеграция и живое демо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880360"/>
            <a:ext cx="2697480" cy="146304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2880360"/>
            <a:ext cx="54864" cy="1463040"/>
          </a:xfrm>
          <a:prstGeom prst="rect">
            <a:avLst/>
          </a:prstGeom>
          <a:solidFill>
            <a:srgbClr val="E4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953512"/>
            <a:ext cx="2468880" cy="1371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30" b="1">
                <a:solidFill>
                  <a:srgbClr val="FFFFFF"/>
                </a:solidFill>
                <a:latin typeface="Google Sans Medium"/>
              </a:rPr>
              <a:t>Воспроизводимость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>
                <a:solidFill>
                  <a:srgbClr val="F2B84B"/>
                </a:solidFill>
                <a:latin typeface="Google Sans"/>
              </a:rPr>
              <a:t>Жюри запускает одной командой: scripts/jury.sh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>
                <a:solidFill>
                  <a:srgbClr val="F2B84B"/>
                </a:solidFill>
                <a:latin typeface="Google Sans"/>
              </a:rPr>
              <a:t>Docker-образ Humble, сеть хоста не нужна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>
                <a:solidFill>
                  <a:srgbClr val="F2B84B"/>
                </a:solidFill>
                <a:latin typeface="Google Sans"/>
              </a:rPr>
              <a:t>11 сценариев приёмки: smoke, no-gnss, no-assets…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>
                <a:solidFill>
                  <a:srgbClr val="F2B84B"/>
                </a:solidFill>
                <a:latin typeface="Google Sans"/>
              </a:rPr>
              <a:t>provenance.json: коммит, образ, команда у каждого числа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72968" y="2880360"/>
            <a:ext cx="2697480" cy="146304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72968" y="2880360"/>
            <a:ext cx="54864" cy="1463040"/>
          </a:xfrm>
          <a:prstGeom prst="rect">
            <a:avLst/>
          </a:prstGeom>
          <a:solidFill>
            <a:srgbClr val="E4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19272" y="2953512"/>
            <a:ext cx="2468880" cy="134754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lang="ru-RU" sz="1050" b="1" dirty="0">
                <a:solidFill>
                  <a:srgbClr val="FFFFFF"/>
                </a:solidFill>
                <a:latin typeface="Google Sans Medium"/>
              </a:rPr>
              <a:t>Как делим ответственность</a:t>
            </a:r>
          </a:p>
          <a:p>
            <a:pPr>
              <a:spcAft>
                <a:spcPts val="500"/>
              </a:spcAft>
            </a:pPr>
            <a:r>
              <a:rPr lang="ru-RU" sz="900" dirty="0">
                <a:solidFill>
                  <a:srgbClr val="F2B84B"/>
                </a:solidFill>
                <a:latin typeface="Google Sans"/>
              </a:rPr>
              <a:t>Автор модели не принимает свои числа: метрики считает второй участник по зафиксированной методике</a:t>
            </a:r>
          </a:p>
          <a:p>
            <a:pPr>
              <a:spcAft>
                <a:spcPts val="500"/>
              </a:spcAft>
            </a:pPr>
            <a:r>
              <a:rPr lang="ru-RU" sz="900" dirty="0">
                <a:solidFill>
                  <a:srgbClr val="F2B84B"/>
                </a:solidFill>
                <a:latin typeface="Google Sans"/>
              </a:rPr>
              <a:t>Любая смена дефолтов → </a:t>
            </a:r>
            <a:r>
              <a:rPr lang="ru-RU" sz="900" dirty="0" err="1">
                <a:solidFill>
                  <a:srgbClr val="F2B84B"/>
                </a:solidFill>
                <a:latin typeface="Google Sans"/>
              </a:rPr>
              <a:t>перепрогон</a:t>
            </a:r>
            <a:r>
              <a:rPr lang="ru-RU" sz="900" dirty="0">
                <a:solidFill>
                  <a:srgbClr val="F2B84B"/>
                </a:solidFill>
                <a:latin typeface="Google Sans"/>
              </a:rPr>
              <a:t> </a:t>
            </a:r>
            <a:r>
              <a:rPr lang="ru-RU" sz="900" dirty="0" err="1">
                <a:solidFill>
                  <a:srgbClr val="F2B84B"/>
                </a:solidFill>
                <a:latin typeface="Google Sans"/>
              </a:rPr>
              <a:t>val</a:t>
            </a:r>
            <a:r>
              <a:rPr lang="ru-RU" sz="900" dirty="0">
                <a:solidFill>
                  <a:srgbClr val="F2B84B"/>
                </a:solidFill>
                <a:latin typeface="Google Sans"/>
              </a:rPr>
              <a:t> и новый тег</a:t>
            </a:r>
          </a:p>
          <a:p>
            <a:pPr>
              <a:spcAft>
                <a:spcPts val="500"/>
              </a:spcAft>
            </a:pPr>
            <a:r>
              <a:rPr lang="ru-RU" sz="900" dirty="0">
                <a:solidFill>
                  <a:srgbClr val="F2B84B"/>
                </a:solidFill>
                <a:latin typeface="Google Sans"/>
              </a:rPr>
              <a:t>Граница «измерено / не доказано» на каждом слайде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8EEF54D-6F76-D83A-3B24-DE0F12EA7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391" y="1335024"/>
            <a:ext cx="1100085" cy="1100085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1DC3A60E-7761-B991-2E4B-8CB7A0352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308" y="1335024"/>
            <a:ext cx="1128140" cy="112814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59BA4E56-853F-2AC2-7EEC-DD07D7ADC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9283" y="1342694"/>
            <a:ext cx="1100085" cy="110008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04DDB7D-D11D-51CB-D0AB-95E89DF9B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2880360"/>
            <a:ext cx="2468880" cy="13840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548640"/>
            <a:ext cx="5486400" cy="11887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0">
                <a:solidFill>
                  <a:srgbClr val="FFFFFF"/>
                </a:solidFill>
                <a:latin typeface="Google Sans Medium"/>
              </a:rPr>
              <a:t>Контакты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0">
                <a:solidFill>
                  <a:srgbClr val="9FC5E8"/>
                </a:solidFill>
                <a:latin typeface="Google Sans Medium"/>
              </a:rPr>
              <a:t>для связи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5279" y="365760"/>
            <a:ext cx="219456" cy="219456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74736" y="585216"/>
            <a:ext cx="219456" cy="219456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79" y="804672"/>
            <a:ext cx="219456" cy="219456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2011680"/>
            <a:ext cx="5120640" cy="169164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2011680"/>
            <a:ext cx="54864" cy="1691640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356616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Google Sans Medium"/>
              </a:rPr>
              <a:t>Команда RailBreak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oogle Sans"/>
              </a:rPr>
              <a:t>Коньков Дмитрий, капитан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B9B4D6"/>
                </a:solidFill>
                <a:latin typeface="Google Sans"/>
              </a:rPr>
              <a:t>E-mail  </a:t>
            </a:r>
            <a:r>
              <a:rPr sz="950" b="0">
                <a:solidFill>
                  <a:srgbClr val="FFFFFF"/>
                </a:solidFill>
                <a:latin typeface="Google Sans"/>
              </a:rPr>
              <a:t>konkov-dmitrij@yandex.ru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50" b="0">
                <a:solidFill>
                  <a:srgbClr val="B9B4D6"/>
                </a:solidFill>
                <a:latin typeface="Google Sans"/>
              </a:rPr>
              <a:t>Тел.  </a:t>
            </a:r>
            <a:r>
              <a:rPr sz="950" b="0">
                <a:solidFill>
                  <a:srgbClr val="FFFFFF"/>
                </a:solidFill>
                <a:latin typeface="Google Sans"/>
              </a:rPr>
              <a:t>+7 915 452-88-64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oogle Sans"/>
              </a:rPr>
              <a:t>Конькова Елена, измерение и качество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B9B4D6"/>
                </a:solidFill>
                <a:latin typeface="Google Sans"/>
              </a:rPr>
              <a:t>E-mail  </a:t>
            </a:r>
            <a:r>
              <a:rPr sz="950" b="0">
                <a:solidFill>
                  <a:srgbClr val="FFFFFF"/>
                </a:solidFill>
                <a:latin typeface="Google Sans"/>
              </a:rPr>
              <a:t>konkovaelena@yandex.ru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B9B4D6"/>
                </a:solidFill>
                <a:latin typeface="Google Sans"/>
              </a:rPr>
              <a:t>Репозиторий  </a:t>
            </a:r>
            <a:r>
              <a:rPr sz="950" b="0">
                <a:solidFill>
                  <a:srgbClr val="FFFFFF"/>
                </a:solidFill>
                <a:latin typeface="Google Sans"/>
              </a:rPr>
              <a:t>github.com/KonkovDV/RailBreak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9FC5E8"/>
                </a:solidFill>
                <a:latin typeface="Google Sans"/>
              </a:rPr>
              <a:t>Пакет railbreak_backup_odometry · ROS 2 Humble · C++17</a:t>
            </a:r>
          </a:p>
        </p:txBody>
      </p:sp>
      <p:pic>
        <p:nvPicPr>
          <p:cNvPr id="9" name="Picture 8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2240280"/>
            <a:ext cx="1097280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0" y="3383280"/>
            <a:ext cx="132588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QR: репозиторий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977639"/>
            <a:ext cx="64008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FC5E8"/>
                </a:solidFill>
                <a:latin typeface="Google Sans Medium"/>
              </a:rPr>
              <a:t>RailBreak: резерв, который знает, когда он не знает.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6788" y="3855841"/>
            <a:ext cx="8590696" cy="9530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959352"/>
            <a:ext cx="8229600" cy="77724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0">
                <a:solidFill>
                  <a:srgbClr val="1A1230"/>
                </a:solidFill>
                <a:latin typeface="Google Sans Medium"/>
              </a:rPr>
              <a:t>Приложение: ответы на вопросы жюри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7772400" cy="12801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>
                <a:solidFill>
                  <a:srgbClr val="FFFFFF"/>
                </a:solidFill>
                <a:latin typeface="Google Sans Medium"/>
              </a:rPr>
              <a:t>Слайды не для показа подряд.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0">
                <a:solidFill>
                  <a:srgbClr val="1A1230"/>
                </a:solidFill>
                <a:latin typeface="Google Sans Medium"/>
              </a:rPr>
              <a:t>Открываем по вопросу.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П1. Матрица сбоев: что держит, а что 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Офлайн val, 21 рейс, коммит 5cd35fa. Медиана RMSE вдоль пути и доля прогонов, где в окне сбоя выставлен флаг.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П1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298448"/>
            <a:ext cx="3813048" cy="274320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3712464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Сбой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1298448"/>
            <a:ext cx="1344168" cy="274320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1298448"/>
            <a:ext cx="1243584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RMSE вдоль, м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6128" y="1298448"/>
            <a:ext cx="1344168" cy="274320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1298448"/>
            <a:ext cx="1243584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Флаг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60020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Без сбоя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60020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60020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1.47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6128" y="160020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160020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1874519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1874519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Передняя молчит 20 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1874519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1874519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1.60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96128" y="1874519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0" y="1874519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214884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14884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Обе молчат 5 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214884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80" y="214884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1.61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96128" y="214884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0" y="214884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242316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42316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Обе молчат 20 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4528" y="242316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97680" y="242316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1.76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96128" y="242316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0" y="242316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269748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269748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Передняя NaN 10 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24528" y="269748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0" y="269748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1.60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96128" y="269748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0" y="269748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297180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297180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Передняя +10 % на 30 с (боксование)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24528" y="297180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97680" y="297180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1.94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96128" y="297180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0" y="297180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0.95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" y="324612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324612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Задняя «замёрзла» на 30 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24528" y="324612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97680" y="324612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3.89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96128" y="324612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24612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1.00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" y="352044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352044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Шум ×5 на обеих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24528" y="352044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97680" y="352044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13.02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96128" y="352044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69280" y="352044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4048" y="379476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379476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Обе −20 % на 8 с (общий юз)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24528" y="379476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97680" y="379476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6.46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96128" y="379476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669280" y="379476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0.95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" y="4069079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7200" y="4069079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Без якорей станций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24528" y="4069079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97680" y="4069079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12.59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96128" y="4069079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669280" y="4069079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" y="434340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" y="434340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E4606D"/>
                </a:solidFill>
                <a:latin typeface="Google Sans"/>
              </a:rPr>
              <a:t>Задняя +5 % весь рейс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24528" y="434340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297680" y="434340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E4606D"/>
                </a:solidFill>
                <a:latin typeface="Google Sans"/>
              </a:rPr>
              <a:t>84.06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96128" y="434340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669280" y="434340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E4606D"/>
                </a:solidFill>
                <a:latin typeface="Google Sans"/>
              </a:rPr>
              <a:t>0.19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086600" y="1298448"/>
            <a:ext cx="1609344" cy="292608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7086600" y="1298448"/>
            <a:ext cx="54864" cy="2926080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32904" y="1389888"/>
            <a:ext cx="1353312" cy="27797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Google Sans Medium"/>
              </a:rPr>
              <a:t>Как читать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Ни в одном прогоне состояние не стало NaN или Inf.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Худшее: постоянный масштаб одной тележки (84 м) и общий юз без станции (p95 868 м → LOST).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Пересчитано на текущем дереве 5cd35fa.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П2. Абляции: что даёт каждый блок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Офлайн val, 21 рейс, коммит 5cd35fa, те же датчики. Медиана RMSE вдоль пути и дрейф в конце рейса.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П2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298448"/>
            <a:ext cx="3813048" cy="274320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3712464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Вариант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1298448"/>
            <a:ext cx="1344168" cy="274320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1298448"/>
            <a:ext cx="1243584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RMSE вдоль, м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6128" y="1298448"/>
            <a:ext cx="1344168" cy="274320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1298448"/>
            <a:ext cx="1243584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Дрейф,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60020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Полный фильтр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60020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60020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1.47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6128" y="160020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160020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1874519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1874519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Без обучения отношения тележек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1874519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1874519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1.48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96128" y="1874519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0" y="1874519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214884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14884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Без уклона карты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214884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80" y="214884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1.87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96128" y="214884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0" y="214884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0.027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242316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42316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Без ручки (ручка = 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4528" y="242316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97680" y="242316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3.04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96128" y="242316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0" y="242316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0.110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269748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269748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Без таблицы тяги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24528" y="269748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0" y="269748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3.26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96128" y="269748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0" y="269748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0.122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297180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297180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Без якорей станций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24528" y="297180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97680" y="297180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12.59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96128" y="297180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0" y="297180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0.623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" y="324612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324612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Окно GNSS 1 с вместо 3 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24528" y="324612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97680" y="324612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1.47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96128" y="324612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24612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" y="352044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352044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Train, 39 рейсов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24528" y="352044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97680" y="352044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2.80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96128" y="352044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69280" y="352044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0.019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4048" y="379476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379476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Stress, 4 трудные записи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24528" y="379476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97680" y="379476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11.00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96128" y="379476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669280" y="379476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0.979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" y="4069079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7200" y="4069079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Google Sans"/>
              </a:rPr>
              <a:t>Полный фильтр, p95 по рейсам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24528" y="4069079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97680" y="4069079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Google Sans"/>
              </a:rPr>
              <a:t>5.83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96128" y="4069079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669280" y="4069079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9FC5E8"/>
                </a:solidFill>
                <a:latin typeface="Google Sans"/>
              </a:rPr>
              <a:t>1.011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" y="4343400"/>
            <a:ext cx="381304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" y="4343400"/>
            <a:ext cx="371246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E4606D"/>
                </a:solidFill>
                <a:latin typeface="Google Sans"/>
              </a:rPr>
              <a:t>Дерево с регрессией (до 5cd35fa)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24528" y="434340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297680" y="434340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E4606D"/>
                </a:solidFill>
                <a:latin typeface="Google Sans"/>
              </a:rPr>
              <a:t>5.64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96128" y="4343400"/>
            <a:ext cx="1344168" cy="24688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669280" y="4343400"/>
            <a:ext cx="1243584" cy="24688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E4606D"/>
                </a:solidFill>
                <a:latin typeface="Google Sans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086600" y="1298448"/>
            <a:ext cx="1609344" cy="292608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7086600" y="1298448"/>
            <a:ext cx="54864" cy="2926080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32904" y="1389888"/>
            <a:ext cx="1353312" cy="27797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Google Sans Medium"/>
              </a:rPr>
              <a:t>Как читать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Главный вклад — якоря станций (×8.6), затем таблица тяги и уклон.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σ: внутри 1/2/3σ медиана по рейсам 0.75 / 0.94 / 0.996 (гаусс 0.68 / 0.95 / 0.997).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40" b="0">
                <a:solidFill>
                  <a:srgbClr val="9FC5E8"/>
                </a:solidFill>
                <a:latin typeface="Google Sans"/>
              </a:rPr>
              <a:t>Граница эмпирическая, не protection level.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П3. Red Team: слабые места и что с ними делаем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Результат нашего собственного murder board. Лучше, чтобы жюри услышало это от нас.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П3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325880"/>
            <a:ext cx="2697480" cy="146304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325880"/>
            <a:ext cx="54864" cy="1463040"/>
          </a:xfrm>
          <a:prstGeom prst="rect">
            <a:avLst/>
          </a:prstGeom>
          <a:solidFill>
            <a:srgbClr val="E4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399032"/>
            <a:ext cx="2468880" cy="1371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30" b="1">
                <a:solidFill>
                  <a:srgbClr val="FFFFFF"/>
                </a:solidFill>
                <a:latin typeface="Google Sans Medium"/>
              </a:rPr>
              <a:t>Общая мода двух тележек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>
                <a:solidFill>
                  <a:srgbClr val="F2B84B"/>
                </a:solidFill>
                <a:latin typeface="Google Sans"/>
              </a:rPr>
              <a:t>Не наблюдаема без третьего канала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9" b="1">
                <a:solidFill>
                  <a:srgbClr val="5BC08A"/>
                </a:solidFill>
                <a:latin typeface="Google Sans"/>
              </a:rPr>
              <a:t>→ </a:t>
            </a:r>
            <a:r>
              <a:rPr sz="869" b="0">
                <a:solidFill>
                  <a:srgbClr val="9FC5E8"/>
                </a:solidFill>
                <a:latin typeface="Google Sans"/>
              </a:rPr>
              <a:t>Защёлка → якорь станции или LOST; в плане IMU или радар как опция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2968" y="1325880"/>
            <a:ext cx="2697480" cy="146304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72968" y="1325880"/>
            <a:ext cx="54864" cy="1463040"/>
          </a:xfrm>
          <a:prstGeom prst="rect">
            <a:avLst/>
          </a:prstGeom>
          <a:solidFill>
            <a:srgbClr val="E4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9272" y="1399032"/>
            <a:ext cx="2468880" cy="1371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30" b="1">
                <a:solidFill>
                  <a:srgbClr val="FFFFFF"/>
                </a:solidFill>
                <a:latin typeface="Google Sans Medium"/>
              </a:rPr>
              <a:t>Ложный якорь станции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>
                <a:solidFill>
                  <a:srgbClr val="F2B84B"/>
                </a:solidFill>
                <a:latin typeface="Google Sans"/>
              </a:rPr>
              <a:t>Одна чужая станция в воротах может закрепиться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9" b="1">
                <a:solidFill>
                  <a:srgbClr val="5BC08A"/>
                </a:solidFill>
                <a:latin typeface="Google Sans"/>
              </a:rPr>
              <a:t>→ </a:t>
            </a:r>
            <a:r>
              <a:rPr sz="869" b="0">
                <a:solidFill>
                  <a:srgbClr val="9FC5E8"/>
                </a:solidFill>
                <a:latin typeface="Google Sans"/>
              </a:rPr>
              <a:t>Проверка по времени стоянки, направлению и истории невязки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888" y="1325880"/>
            <a:ext cx="2697480" cy="146304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61888" y="1325880"/>
            <a:ext cx="54864" cy="1463040"/>
          </a:xfrm>
          <a:prstGeom prst="rect">
            <a:avLst/>
          </a:prstGeom>
          <a:solidFill>
            <a:srgbClr val="E4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1399032"/>
            <a:ext cx="2468880" cy="1371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30" b="1">
                <a:solidFill>
                  <a:srgbClr val="FFFFFF"/>
                </a:solidFill>
                <a:latin typeface="Google Sans Medium"/>
              </a:rPr>
              <a:t>Ковариация k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>
                <a:solidFill>
                  <a:srgbClr val="F2B84B"/>
                </a:solidFill>
                <a:latin typeface="Google Sans"/>
              </a:rPr>
              <a:t>Неопределённость масштаба не входит в 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9" b="1">
                <a:solidFill>
                  <a:srgbClr val="5BC08A"/>
                </a:solidFill>
                <a:latin typeface="Google Sans"/>
              </a:rPr>
              <a:t>→ </a:t>
            </a:r>
            <a:r>
              <a:rPr sz="869" b="0">
                <a:solidFill>
                  <a:srgbClr val="9FC5E8"/>
                </a:solidFill>
                <a:latin typeface="Google Sans"/>
              </a:rPr>
              <a:t>Полный Schmidt–Kalman или раздувание R по σ_k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880360"/>
            <a:ext cx="2697480" cy="146304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2880360"/>
            <a:ext cx="54864" cy="1463040"/>
          </a:xfrm>
          <a:prstGeom prst="rect">
            <a:avLst/>
          </a:prstGeom>
          <a:solidFill>
            <a:srgbClr val="E4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953512"/>
            <a:ext cx="2468880" cy="1371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30" b="1">
                <a:solidFill>
                  <a:srgbClr val="FFFFFF"/>
                </a:solidFill>
                <a:latin typeface="Google Sans Medium"/>
              </a:rPr>
              <a:t>Одно кольцо вместо графа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>
                <a:solidFill>
                  <a:srgbClr val="F2B84B"/>
                </a:solidFill>
                <a:latin typeface="Google Sans"/>
              </a:rPr>
              <a:t>Стрелки, депо и задний ход без своей оси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9" b="1">
                <a:solidFill>
                  <a:srgbClr val="5BC08A"/>
                </a:solidFill>
                <a:latin typeface="Google Sans"/>
              </a:rPr>
              <a:t>→ </a:t>
            </a:r>
            <a:r>
              <a:rPr sz="869" b="0">
                <a:solidFill>
                  <a:srgbClr val="9FC5E8"/>
                </a:solidFill>
                <a:latin typeface="Google Sans"/>
              </a:rPr>
              <a:t>Банк гипотез пути по образцу Heirich 2016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72968" y="2880360"/>
            <a:ext cx="2697480" cy="146304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72968" y="2880360"/>
            <a:ext cx="54864" cy="1463040"/>
          </a:xfrm>
          <a:prstGeom prst="rect">
            <a:avLst/>
          </a:prstGeom>
          <a:solidFill>
            <a:srgbClr val="E4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19272" y="2953512"/>
            <a:ext cx="2468880" cy="1371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30" b="1">
                <a:solidFill>
                  <a:srgbClr val="FFFFFF"/>
                </a:solidFill>
                <a:latin typeface="Google Sans Medium"/>
              </a:rPr>
              <a:t>Таблица тяги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>
                <a:solidFill>
                  <a:srgbClr val="F2B84B"/>
                </a:solidFill>
                <a:latin typeface="Google Sans"/>
              </a:rPr>
              <a:t>Загрузка, сезон и задержка привода смешаны в bₐ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9" b="1">
                <a:solidFill>
                  <a:srgbClr val="5BC08A"/>
                </a:solidFill>
                <a:latin typeface="Google Sans"/>
              </a:rPr>
              <a:t>→ </a:t>
            </a:r>
            <a:r>
              <a:rPr sz="869" b="0">
                <a:solidFill>
                  <a:srgbClr val="9FC5E8"/>
                </a:solidFill>
                <a:latin typeface="Google Sans"/>
              </a:rPr>
              <a:t>Сезонная калибровка, задержка как гипотеза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1888" y="2880360"/>
            <a:ext cx="2697480" cy="1463040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61888" y="2880360"/>
            <a:ext cx="54864" cy="1463040"/>
          </a:xfrm>
          <a:prstGeom prst="rect">
            <a:avLst/>
          </a:prstGeom>
          <a:solidFill>
            <a:srgbClr val="E46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08192" y="2953512"/>
            <a:ext cx="2468880" cy="1371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30" b="1">
                <a:solidFill>
                  <a:srgbClr val="FFFFFF"/>
                </a:solidFill>
                <a:latin typeface="Google Sans Medium"/>
              </a:rPr>
              <a:t>Слепой бюджет 5 с / 100 м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869" b="0">
                <a:solidFill>
                  <a:srgbClr val="F2B84B"/>
                </a:solidFill>
                <a:latin typeface="Google Sans"/>
              </a:rPr>
              <a:t>Выбран инженерно, не выведен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9" b="1">
                <a:solidFill>
                  <a:srgbClr val="5BC08A"/>
                </a:solidFill>
                <a:latin typeface="Google Sans"/>
              </a:rPr>
              <a:t>→ </a:t>
            </a:r>
            <a:r>
              <a:rPr sz="869" b="0">
                <a:solidFill>
                  <a:srgbClr val="9FC5E8"/>
                </a:solidFill>
                <a:latin typeface="Google Sans"/>
              </a:rPr>
              <a:t>Вывести из тормозного пути и допуска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П4. Жёсткие вопросы: короткие ответы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Подготовлено по итогам murder 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П4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Это UKF?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Нет. Маломерный калмановский фильтр [s, v, k, bₐ]. В описании GitHub прямо: «Scaled UKF в сдачу не входит».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8304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Какое число точности настоящее?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Официальный checker, rate 1, полный пакет: 2.15 м (3D) и 0.051 м/с на одной записи; повтор 2.11 м. Без ручки 5.45 м. 1.47 м — офлайн-медиана вдоль пути на val.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Почему не оцениваете μ?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По двум скоростям колёс и ручке сцепление не наблюдаемо. Публикуем прокси невязки, μ = null.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18304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Что при общем юзе обеих тележек?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Через 3 с общая мода, колёса не берём, σ растёт; без якоря за 5 с / 100 м LOST: σ = 1 км.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Почему плохую тележку не отключаете?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Мягкая деградация: вес падает (R = 25), но канал может вернуться. Это не нулевой вес.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18304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Какая задержка?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Rate 1: медиана 53 мс, p95 154 мс, max 305 мс; &gt; 250 мс только 0,09 % выходов.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Задний ход, депо, стрелки?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Не поддерживаются: одно кольцо, v ≥ 0. Проверка по регулярному маршруту, граф в плане.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18304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Зачем это, если есть лидар?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Резерв на случай общей деградации основного стека. ЭПР требует безопасной остановки при сбое.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П5. Инженерная зрелость: доказательства, а не обещания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П5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143000"/>
            <a:ext cx="4096512" cy="148132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1143000"/>
            <a:ext cx="54864" cy="148132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3840480" cy="133502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Google Sans Medium"/>
              </a:rPr>
              <a:t>Воспроизводимость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30" b="0">
                <a:solidFill>
                  <a:srgbClr val="FFFFFF"/>
                </a:solidFill>
                <a:latin typeface="Google Sans"/>
              </a:rPr>
              <a:t>Docker-образ Humble, одна команда для жюри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30" b="0">
                <a:solidFill>
                  <a:srgbClr val="FFFFFF"/>
                </a:solidFill>
                <a:latin typeface="Google Sans"/>
              </a:rPr>
              <a:t>11 сценариев: smoke, fast ×10, no-gnss, no-assets, arc…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30" b="0">
                <a:solidFill>
                  <a:srgbClr val="FFFFFF"/>
                </a:solidFill>
                <a:latin typeface="Google Sans"/>
              </a:rPr>
              <a:t>Ядро собирается без ROS: CMake + C++17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90288" y="1143000"/>
            <a:ext cx="4096512" cy="148132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90288" y="1143000"/>
            <a:ext cx="54864" cy="148132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36592" y="1234440"/>
            <a:ext cx="3840480" cy="133502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Google Sans Medium"/>
              </a:rPr>
              <a:t>Fail-closed приёмка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30" b="0">
                <a:solidFill>
                  <a:srgbClr val="FFFFFF"/>
                </a:solidFill>
                <a:latin typeface="Google Sans"/>
              </a:rPr>
              <a:t>Падает, если нода умерла или нет выхода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30" b="0">
                <a:solidFill>
                  <a:srgbClr val="FFFFFF"/>
                </a:solidFill>
                <a:latin typeface="Google Sans"/>
              </a:rPr>
              <a:t>…штамп регрессировал, частота &lt; 10 Гц, разрыв &gt; 0.25 с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30" b="0">
                <a:solidFill>
                  <a:srgbClr val="FFFFFF"/>
                </a:solidFill>
                <a:latin typeface="Google Sans"/>
              </a:rPr>
              <a:t>…кадр не map/base_link или GNSS не закрылся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743200"/>
            <a:ext cx="4096512" cy="148132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743200"/>
            <a:ext cx="54864" cy="148132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834640"/>
            <a:ext cx="3840480" cy="133502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Google Sans Medium"/>
              </a:rPr>
              <a:t>Проверяемость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30" b="0">
                <a:solidFill>
                  <a:srgbClr val="FFFFFF"/>
                </a:solidFill>
                <a:latin typeface="Google Sans"/>
              </a:rPr>
              <a:t>C++ ядро и Python-двойник расходятся по пути ≤ 0.37 мм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30" b="0">
                <a:solidFill>
                  <a:srgbClr val="FFFFFF"/>
                </a:solidFill>
                <a:latin typeface="Google Sans"/>
              </a:rPr>
              <a:t>provenance.json: коммит, образ, команда у каждого числа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30" b="0">
                <a:solidFill>
                  <a:srgbClr val="FFFFFF"/>
                </a:solidFill>
                <a:latin typeface="Google Sans"/>
              </a:rPr>
              <a:t>Тесты времени, NaN, впрыска сбоев и очереди GNSS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90288" y="2743200"/>
            <a:ext cx="4096512" cy="1481328"/>
          </a:xfrm>
          <a:prstGeom prst="rect">
            <a:avLst/>
          </a:prstGeom>
          <a:solidFill>
            <a:srgbClr val="261D4A"/>
          </a:solidFill>
          <a:ln w="9525">
            <a:solidFill>
              <a:srgbClr val="3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90288" y="2743200"/>
            <a:ext cx="54864" cy="148132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2834640"/>
            <a:ext cx="3840480" cy="133502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FFFFFF"/>
                </a:solidFill>
                <a:latin typeface="Google Sans Medium"/>
              </a:rPr>
              <a:t>Скорость итераций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30" b="0">
                <a:solidFill>
                  <a:srgbClr val="FFFFFF"/>
                </a:solidFill>
                <a:latin typeface="Google Sans"/>
              </a:rPr>
              <a:t>134 коммита в main (репо с 01.09.2026)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30" b="0">
                <a:solidFill>
                  <a:srgbClr val="FFFFFF"/>
                </a:solidFill>
                <a:latin typeface="Google Sans"/>
              </a:rPr>
              <a:t>Каждый коммит: одно изменение и его причина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 b="0">
                <a:solidFill>
                  <a:srgbClr val="3F6FD1"/>
                </a:solidFill>
                <a:latin typeface="Google Sans"/>
              </a:rPr>
              <a:t>•  27.09: откат регрессии, checker 6.17 → 2.15 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П6. Источники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Ключевые ссылки, на которые опирается презентация.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П6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0"/>
            <a:ext cx="4114800" cy="31089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Дептранс: план 90 % трамваев к 2035 · transport.mos.ru, 03.12.2025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Коммерсантъ, интервью П. Бокши, 02.10.2025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Railway Gazette: Moskva pioneers GoA3, 13.06.2026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ПП РФ №1006 от 25.07.2024 (ЭПР, трамваи)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Spire: GNSS interference Moscow, 14.08.2025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ERA SUBSET-041 · EN 15595 (WSP) · mos.ru 21.09.2026 (5 вагонов, 56 тыс. км)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RAIB Salisbury 12/2023 · AIB Denmark: Marslev IC4 (2013)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4114800" cy="31089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von Einem et al., Path-Constrained State Estimation, arXiv 2308.12082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Heirich, Bayesian Train Localization, J. Sensors 2016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Palmer &amp; Nourani-Vatani, IROS 2018, arXiv 1803.02237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Cao et al., Resilient GNSS/INS train localization, IEEE TITS 2024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Bouchama et al., SysTol 2021 · Namoano et al., EAAI 2024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Milner et al., Integrity concept GNSS/INS/odometry, ION 2024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>
                <a:solidFill>
                  <a:srgbClr val="3F6FD1"/>
                </a:solidFill>
                <a:latin typeface="Google Sans"/>
              </a:rPr>
              <a:t>•  </a:t>
            </a:r>
            <a:r>
              <a:rPr sz="900" b="0">
                <a:solidFill>
                  <a:srgbClr val="FFFFFF"/>
                </a:solidFill>
                <a:latin typeface="Google Sans"/>
              </a:rPr>
              <a:t>UITP / Europe’s Rail R2DATO, 2025–2026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П7. Карточки: постановка и физика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Открываем по вопросу. Ответ укладывается в 20 секунд.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П7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Почему одна координата s, а не 2D/3D?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Вагон не сходит с рельса: 6 степеней свободы сводятся к пути вдоль оси. x, y, z и курс даёт карта; меньше состояний, меньше ненаблюдаемого.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8304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Откуда таблица тяги?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Снята на train-рейсах: ускорение по позиции ручки и скорости. Непараметрический аппроксиматор E[a | n, v]; видна зона постоянной мощности.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Почему не нейросеть?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Два вагона и один маршрут: данных мало, нужна предсказуемость вне обучения. Таблица + фильтр проверяемы; ML-слой в плане как адаптация ковариации.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18304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Масса вагона меняется. Как учитываете?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Из траектории наблюдаемо только отношение тяги к массе. Отклонение от таблицы уходит в смещение модели bₐ, фильтр подстраивает его онлайн.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Зачем уклон в модели?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До 40 ‰ даёт до 0,39 м/с², почти половина ускорения полной тяги. Без g·i(s) модель по ручке ошибается ровно на эту величину.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18304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А задержка тягового привода?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Таблица снята по удержаниям ≥ 1 с, переходные процессы в неё не входят. Ошибку первой секунды после смены позиции берёт bₐ; PT1-модель в плане.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Что такое k = 1,0027?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Эффективный масштаб колёс относительно координаты карты, не паспортный диаметр. Двигают его только якоря станций.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18304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Износ бандажа, сезон, обточка?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k калиброван на один вагон и период. Якоря подстраивают его в рейсе; сезонная калибровка таблицы и k входит в теневой пилот.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П8. Карточки: оценивание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Открываем по вопросу. Ответ укладывается в 20 секунд.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П8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Это EKF? Где полный якобиан?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Маломерный калмановский фильтр. ∂a_tab/∂v и ∂i/∂s в F упрощены: P_vv в разгоне чуть завышена, то есть консервативно. Полный якобиан в плане.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8304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Почему k не учится по колёсам?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По колёсам наблюдаемо только v/k. Иначе ошибка модели «утекала» бы в масштаб. k двигают только абсолютные якоря.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Это Schmidt–Kalman?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Не полностью: неопределённость k пока не входит в ковариацию невязки. Честно: k на колёсном шаге заморожен, полный consider-вариант в плане.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18304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Как устроен консенсус тележек?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Тележка дальше от прогноза получает R = 25 (м/с)². Пороги: NIS &gt; 16 или расхождение &gt; max(0,3; 4√2R) м/с.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Что такое якорь станции?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Остановка у единственной станции в воротах даёт абсолютное s: виртуальная бализа. Без якорей 12,6 м вдоль пути, с ними 1,47 м (val).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18304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А если якорь ложный?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Одна чужая станция в воротах может закрепиться. Остановки маршрута далеко друг от друга; добавим проверку по времени стоянки и истории невязки.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Почему ворота 3σ?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Компромисс между ложным и пропущенным якорем. На вагоне 30639 правильная станция бывает у границы ворот; расширение ворот проверяем на val.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18304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Ложная стоянка (ZUPT) на ходу?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Ноль скорости фиксируем, только когда обе тележки ниже порога дольше 1 с. Риск при раздутом R известен; ограничение порога сверху в списке исправлений.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П9. Карточки: проскальзывание и целостность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Открываем по вопросу. Ответ укладывается в 20 секунд.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П9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Юз или отказ датчика: как отличаете?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Одна тележка расходится со второй и с моделью: теряет вес. Молчание и NaN: отдельная ветка. Общий юз обеих без третьего канала неотличим.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8304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Почему по одной тележке не видно боксования?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Ускорение колеса при проскальзывании в тех же пределах, что при разгоне (Palmer, Nourani-Vatani, IROS 2018). Свидетели: вторая тележка и модель.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Что при общем юзе обеих тележек?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Через 3 с общая мода: колёса не берём, k и bₐ заморожены, σ растёт. Без якоря за 5 с / 100 м LOST: положение с σ = 1 км.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18304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Почему не оцениваете μ?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Сцепление ненаблюдаемо по двум скоростям и ручке. Публикуем прокси невязки, mu_estimate = null: лучше пусто, чем выдумка.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Откуда слепой бюджет 5 с / 100 м?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Инженерный выбор: при 50 км/ч это ~70 м, порядка тормозного пути трамвая. Вывод из тормозного пути и допуска: этап обоснования безопасности.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18304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Это protection level?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Нет. Граница эмпирическая (p99 train), не сертифицированный protection level. SIL не заявляем.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Ваш худший сценарий?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Постоянный масштаб одной тележки +5 % весь рейс: 84 м, флаг в 19 % прогонов. Нужен детектор медленного расхождения тележек, он в плане.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18304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Что LOST значит для автоматики?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Сигнал «планируй безопасную остановку», а не молчание. ЭПР требует безопасной остановки при сбое бортовой системы.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П10. Карточки: точность и валидация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Открываем по вопросу. Ответ укладывается в 20 секунд.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П10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Какое число точности настоящее?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Официальный checker, rate 1, полный пакет: 2,15 м (3D) и 0,051 м/с на одной записи (повтор 2,11 м). 1,47 м — офлайн-медиана вдоль пути на val.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8304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Почему было 6,17 м, а теперь 2,15 м?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6,17 м — дерево с регрессией: шаг масштаба тележки к прогнозу и вторая правка k на якоре. Откат в 5cd35fa: 2,15 м; val снова 1,47 м.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Как избегали утечки данных?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Сплит по датам; карта только по train; сбои вносятся в отложенные рейсы; GNSS в held-out копиях обрезан до 3 с.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18304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Baseline на тех же датчиках?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Колёса без модели и якорей: 12,6 м вдоль пути. Полное решение: 1,47 м (офлайн val, 21 рейс).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Где абляции?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Посчитаны на val: без якорей 12,6 м, без таблицы тяги 3,3 м, без ручки 3,0 м, без уклона 1,9 м; полный 1,47 м.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18304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Откалибрована ли σ?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Внутри 1/2/3σ: медиана по рейсам 0,75/0,94/0,996 (гаусс 0,68/0,95/0,997). Среднее ниже из-за вагона 30639. Граница эмпирическая.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Сравнение с ETCS корректно?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Как линейка, не соответствие: ETCS ±(5 м + 5 % s) и ±2 км/ч до 30 км/ч. Наша скорость 0,051 м/с при допуске 0,56 м/с.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18304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А второй вагон 30639?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Проверяют только 30618. У 30639 масштаб колёс отличается ~на 1 %; k и таблица калибруются по вагону, узнавание вагона в плане.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П11. Карточки: ROS 2 и инженерия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Открываем по вопросу. Ответ укладывается в 20 секунд.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П11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Как проверить у себя?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Одна команда: scripts/jury.sh play --bag &lt;rosbag2&gt; --msgs &lt;tram_vehicle_msgs&gt;. Docker Humble, сеть хоста не нужна.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8304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Какая частота выхода?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29,3 Гц, разрыв 0,051 с; у скорости 0,196 с только в 1-ю секунду (повтор: 0,090 с). Без ручки 19,4 Гц. ТЗ: ≥ 10 Гц.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Какая задержка?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Медиана 53 мс, p95 154, max 305 мс (rate 1). Хвост — ожидание потока ручки в очереди при полном пакете; таймер его не лечит.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18304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Память и CPU?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Замер (5cd35fa, rate 1): 24,1 МБ RSS, 0,89 % одного ядра (пик 3 %) при лимите 2 ядра / 0,5 ГБ.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QoS и время?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Вход best effort, очередь 500; выход reliable, 10. Штамп выхода равен штампу входа, без /clock.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18304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Что если топика ручки нет?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Едет по тележкам, выход дополняется до 20 Гц (e863195): 5,45 м, 0,044 м/с, 19,4 Гц. Раньше 9,3 Гц. С полным пакетом 29,3 Гц.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CI собирает против заглушек?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Да, публичный CI не приёмка. Приёмка: fail-closed скрипт в Docker, падает при смерти ноды, регрессе штампа, &lt; 10 Гц, разрыве &gt; 0,25 с.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18304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Почему верить вашим числам?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provenance.json у каждого числа: коммит, образ, команда. C++ ядро и Python-двойник расходятся ≤ 0,37 мм.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П12. Карточки: интеграция и эксплуатация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Открываем по вопросу. Ответ укладывается в 20 секунд.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П12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Зачем резерв, если есть лидар?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Лидар, карта и ИНС отказывают коррелированно: снег, грязь, вибрация. Мы на других физических принципах.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8304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Польза в штатном режиме?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Монитор целостности: если основная локализация и резерв расходятся больше порога, основной канал под подозрением. Работает каждую секунду.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Что увидит диспетчер?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Статус доверия, σ в метрах, режим и причину. /result/diagnostics уже содержит режим, integrity_status, fault_score, σ_s.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18304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Нагрузка на весь парк?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Считаем на борту; наружу нужны только статус и σ. Для диспетчеризации хватает единиц сообщений в секунду на вагон.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Стрелки, депо, задний ход?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Не поддерживаются: одно кольцо, v ≥ 0. Проверка по регулярному маршруту (подтверждено организатором). Граф и гипотезы на стрелках в плане.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18304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Почему не pathgraph организатора?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Карта собрана по train-GNSS до выдачи pathgraph. Переход после сравнения на val, чтобы не получить регресс.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Как выйти на новый маршрут?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Нужны ось пути с профилем высоты, станции и калибровка таблицы. Лаборатории уже картируют все 11 маршрутов Краснопресненской сети.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18304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Метро, ВСМ?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Схема не зависит от вагона: 1D по пути, колёса, привод, реперы. Заново снимаются таблица привода и карта. В метро GNSS нет вообще.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П13. Карточки: продукт, пилот, безопасность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Открываем по вопросу. Ответ укладывается в 20 секунд.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П13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Сколько это стоит?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Железа ноль: сигналы уже есть в вагоне. Стоимость в интеграции и валидации. Экономику в рублях не заявляем: цены комплекта не раскрыты.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8304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Пилот за 90 дней: что именно?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Теневой режим на вагоне маршрута №10 рядом с лидарной локализацией как эталоном. Критерии GO фиксируем до первого прогона.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Какие критерии GO?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Доля времени в конверте ±(5 м + 5 % пути от якоря); ноль случаев NOMINAL при ошибке сверх границы; задержка ≤ 100 мс.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18304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Что нужно от МТТЕХ?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Записи и шина вагона маршрута №10, эталон локализации на время пилота, контакт инженера по тяговому приводу.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Сертификация?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Не заявляем. Путь: журнал опасностей по EN 50126, HIL-стенд со сбоями WSP, вклад в safety case до конца ЭПР (07.2027).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18304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Кто принимает решение об остановке?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Автоматика вагона. Мы даём оценку и честный статус доверия; решение не у фильтра.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Почему вы, а не вендор?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Открытый код, ROS 2 как у МТТЕХ, запуск одной командой. Город не зависит от закрытого поставщика.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18304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Как усилить без новой инфраструктуры?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Редкие GNSS-коррекции (организатор разрешил) снимают дрейф s и k. Следующий уровень: доплер или оптика как третий канал скорости.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74320"/>
            <a:ext cx="83210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Google Sans Medium"/>
              </a:rPr>
              <a:t>П14. Карточки: правила, SOTA, команда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86384"/>
            <a:ext cx="813816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9FC5E8"/>
                </a:solidFill>
                <a:latin typeface="Google Sans"/>
              </a:rPr>
              <a:t>Открываем по вопросу. Ответ укладывается в 20 секунд.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773168"/>
            <a:ext cx="365760" cy="2286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B9B4D6"/>
                </a:solidFill>
                <a:latin typeface="Google Sans"/>
              </a:rPr>
              <a:t>П14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18872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23444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Почему GNSS только 3 с?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Строгий режим проверяет худший случай. Организатор разрешил редкие коррекции без штрафа; скорость в любом случае только по тележкам и модели.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Что нового относительно SOTA?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1D, консенсус колёс и якоря известны (Hasberg 2012, Heirich 2016). Новое: их сочетание без IMU и явная машина целостности.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01168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18304" y="205740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ru-RU" sz="960" b="1" dirty="0">
                <a:solidFill>
                  <a:srgbClr val="FFFFFF"/>
                </a:solidFill>
                <a:latin typeface="Google Sans Medium"/>
              </a:rPr>
              <a:t>Почему хуже </a:t>
            </a:r>
            <a:r>
              <a:rPr lang="ru-RU" sz="960" b="1" dirty="0" err="1">
                <a:solidFill>
                  <a:srgbClr val="FFFFFF"/>
                </a:solidFill>
                <a:latin typeface="Google Sans Medium"/>
              </a:rPr>
              <a:t>von</a:t>
            </a:r>
            <a:r>
              <a:rPr lang="ru-RU" sz="960" b="1" dirty="0">
                <a:solidFill>
                  <a:srgbClr val="FFFFFF"/>
                </a:solidFill>
                <a:latin typeface="Google Sans Medium"/>
              </a:rPr>
              <a:t> </a:t>
            </a:r>
            <a:r>
              <a:rPr lang="ru-RU" sz="960" b="1" dirty="0" err="1">
                <a:solidFill>
                  <a:srgbClr val="FFFFFF"/>
                </a:solidFill>
                <a:latin typeface="Google Sans Medium"/>
              </a:rPr>
              <a:t>Einem</a:t>
            </a:r>
            <a:r>
              <a:rPr lang="ru-RU" sz="960" b="1" dirty="0">
                <a:solidFill>
                  <a:srgbClr val="FFFFFF"/>
                </a:solidFill>
                <a:latin typeface="Google Sans Medium"/>
              </a:rPr>
              <a:t> (4,78 м)?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ru-RU" sz="860" b="0" dirty="0">
                <a:solidFill>
                  <a:srgbClr val="9FC5E8"/>
                </a:solidFill>
                <a:latin typeface="Google Sans"/>
              </a:rPr>
              <a:t>У них VIO и GNSS. У нас только тележки и ручка; сравнивать честно на одном наборе датчиков.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Урок из реальных аварий?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Marslev 2011: при юзе регистратор насчитал 1 400 м вместо 2 000 м. Колёса занижают путь в опасную сторону, отсюда защёлка и рост σ.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3464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283464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18304" y="288036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ru-RU" sz="960" b="1" dirty="0">
                <a:solidFill>
                  <a:srgbClr val="FFFFFF"/>
                </a:solidFill>
                <a:latin typeface="Google Sans Medium"/>
              </a:rPr>
              <a:t>А </a:t>
            </a:r>
            <a:r>
              <a:rPr lang="ru-RU" sz="960" b="1" dirty="0" err="1">
                <a:solidFill>
                  <a:srgbClr val="FFFFFF"/>
                </a:solidFill>
                <a:latin typeface="Google Sans Medium"/>
              </a:rPr>
              <a:t>противоюз</a:t>
            </a:r>
            <a:r>
              <a:rPr lang="ru-RU" sz="960" b="1" dirty="0">
                <a:solidFill>
                  <a:srgbClr val="FFFFFF"/>
                </a:solidFill>
                <a:latin typeface="Google Sans Medium"/>
              </a:rPr>
              <a:t> «Львёнка»?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ru-RU" sz="860" b="0" dirty="0">
                <a:solidFill>
                  <a:srgbClr val="9FC5E8"/>
                </a:solidFill>
                <a:latin typeface="Google Sans"/>
              </a:rPr>
              <a:t>Пока он работает, скорость колёс намеренно не равна скорости вагона. Детектор проскальзывания и опора на модель стоят именно там.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Кто что делал в команде?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Дмитрий: модель, фильтр, целостность. Елена: замер, скорер, сбои. Николай: ROS 2, задержка, демо. Числа проверяет не автор модели.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657600"/>
            <a:ext cx="4096512" cy="749808"/>
          </a:xfrm>
          <a:prstGeom prst="rect">
            <a:avLst/>
          </a:prstGeom>
          <a:solidFill>
            <a:srgbClr val="26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3657600"/>
            <a:ext cx="54864" cy="749808"/>
          </a:xfrm>
          <a:prstGeom prst="rect">
            <a:avLst/>
          </a:prstGeom>
          <a:solidFill>
            <a:srgbClr val="3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18304" y="3703320"/>
            <a:ext cx="38862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" b="1">
                <a:solidFill>
                  <a:srgbClr val="FFFFFF"/>
                </a:solidFill>
                <a:latin typeface="Google Sans Medium"/>
              </a:rPr>
              <a:t>Что после хакатона?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60" b="0">
                <a:solidFill>
                  <a:srgbClr val="9FC5E8"/>
                </a:solidFill>
                <a:latin typeface="Google Sans"/>
              </a:rPr>
              <a:t>2 недели: долги доказательства. 1–3 мес.: тень на вагоне. 3–6 мес.: граф и маршруты. 6–12 мес.: обоснование безопасности.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8325</Words>
  <Application>Microsoft Office PowerPoint</Application>
  <PresentationFormat>Экран (16:9)</PresentationFormat>
  <Paragraphs>631</Paragraphs>
  <Slides>27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Google Sans Code</vt:lpstr>
      <vt:lpstr>Arial</vt:lpstr>
      <vt:lpstr>Google Sans Medium</vt:lpstr>
      <vt:lpstr>Google Sans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Пользователь</dc:creator>
  <cp:lastModifiedBy>Ivan Ivanov</cp:lastModifiedBy>
  <cp:revision>6</cp:revision>
  <dcterms:modified xsi:type="dcterms:W3CDTF">2026-09-27T20:11:32Z</dcterms:modified>
</cp:coreProperties>
</file>